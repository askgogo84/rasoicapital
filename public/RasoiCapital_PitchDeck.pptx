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2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147483649" r:id="rId23"/>
    <p:sldId id="2147483650" r:id="rId24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charts/_rels/chart1.xml.rels><?xml version="1.0" encoding="UTF-8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Industry size (₹ lakh Cr)</c:v>
                </c:pt>
              </c:strCache>
            </c:strRef>
          </c:tx>
          <c:spPr>
            <a:solidFill>
              <a:srgbClr val="E8520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0F172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FY24</c:v>
                  </c:pt>
                  <c:pt idx="1">
                    <c:v>FY25</c:v>
                  </c:pt>
                  <c:pt idx="2">
                    <c:v>FY26</c:v>
                  </c:pt>
                  <c:pt idx="3">
                    <c:v>FY27</c:v>
                  </c:pt>
                  <c:pt idx="4">
                    <c:v>FY28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5.69</c:v>
                </c:pt>
                <c:pt idx="1">
                  <c:v>6.15</c:v>
                </c:pt>
                <c:pt idx="2">
                  <c:v>6.65</c:v>
                </c:pt>
                <c:pt idx="3">
                  <c:v>7.19</c:v>
                </c:pt>
                <c:pt idx="4">
                  <c:v>7.77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1" i="0" strike="noStrike" sz="1000" u="none">
                  <a:solidFill>
                    <a:srgbClr val="0F172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F1F5F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4A3B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Typical HORECA daily cash balance</c:v>
                </c:pt>
              </c:strCache>
            </c:strRef>
          </c:tx>
          <c:spPr>
            <a:solidFill>
              <a:srgbClr val="E8520A"/>
            </a:solidFill>
            <a:ln w="38100" cap="flat">
              <a:solidFill>
                <a:srgbClr val="E8520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8520A"/>
              </a:solidFill>
              <a:ln w="9525" cap="flat">
                <a:solidFill>
                  <a:srgbClr val="E8520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6 AM</c:v>
                  </c:pt>
                  <c:pt idx="1">
                    <c:v>9 AM</c:v>
                  </c:pt>
                  <c:pt idx="2">
                    <c:v>12 PM</c:v>
                  </c:pt>
                  <c:pt idx="3">
                    <c:v>3 PM</c:v>
                  </c:pt>
                  <c:pt idx="4">
                    <c:v>6 PM</c:v>
                  </c:pt>
                  <c:pt idx="5">
                    <c:v>8 PM</c:v>
                  </c:pt>
                  <c:pt idx="6">
                    <c:v>10 PM</c:v>
                  </c:pt>
                  <c:pt idx="7">
                    <c:v>12 AM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12</c:v>
                </c:pt>
                <c:pt idx="1">
                  <c:v>8</c:v>
                </c:pt>
                <c:pt idx="2">
                  <c:v>35</c:v>
                </c:pt>
                <c:pt idx="3">
                  <c:v>28</c:v>
                </c:pt>
                <c:pt idx="4">
                  <c:v>45</c:v>
                </c:pt>
                <c:pt idx="5">
                  <c:v>88</c:v>
                </c:pt>
                <c:pt idx="6">
                  <c:v>100</c:v>
                </c:pt>
                <c:pt idx="7">
                  <c:v>60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line, pause, then: 'Everything we show you today is live. At the end of this deck we'll underwrite a real restaurant in front of you, in 30 seconds.'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does one job: kill the 'is this vaporware' question in minute one. Hand them your phone with /underwrite open if they want.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Anchor: the problem is not borrower quality — it is measurement failure plus product design failure. That framing sets up our two-part solution: AI underwriting + daily EMI.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Sizing logic is conservative and explainable. SOM comparison to Oxyzo makes the point: we don't need to win the market to be a large company — we need 0.2% of outlets.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pillars, one sentence each: We score what banks can't see. We collect when the till is full. We escalate like a regulator wrote it — because one did.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line: CIBIL is deliberately our SMALLEST weight. Every competitor makes it the biggest. That single inversion is why we can approve outlets they reject — profitably.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moment of the pitch. Let the INVESTOR choose the inputs — sales figure, CIBIL, growth. When their numbers come back scored with an AI memo in 2 seconds, the vaporware question dies permanently.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competitors can't copy without re-architecting their entire collection stack. NACH mandates are monthly by design; our SI waterfall at 9 PM is purpose-built.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 the asymmetry: TWO buckets for performing accounts. Splitting Clean from Normal is a daily-EMI innovation — pre-emptive risk detection a monthly lender literally cannot see.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competitors as VALIDATION, not threat: Oxyzo proves the economics. Our wedge is depth they can't retrofit — sector scoring, field force, and a daily-EMI stack their NACH-based systems weren't built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30× line is the one they'll remember: daily EMI isn't just a collections tool — it's a data instrument. Each loan emits 365 signals a year. Nobody else's book does that.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Numbers are illustrative and conservative — say so. The insight: a HORECA borrower is not a transaction, it's an annuity. Cycle-2+ loans carry near-zero acquisition cost and known risk.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Investors fear regulatory naivety more than competition. This slide shows we've priced both routes, know the 26% trigger and fit-&amp;-proper rules, and the NOF is committed capital — not burn.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killer reframe: this is not a typical seed where money evaporates into salaries. 80% becomes balance-sheet assets — NOF and a yielding loan book. Equity here buys a regulated institution.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KPI box is a gate, not a hope — NPA thresholds decide whether we scale to the next phase. Investors should hear discipline, not hockey sticks.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End where you began: with the live product. Last line spoken aloud: 'The demo stays live after this meeting. Underwrite any restaurant you know tonight — and call us tomorrow.'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8072"/>
          </a:xfrm>
          <a:prstGeom prst="rect">
            <a:avLst/>
          </a:prstGeom>
          <a:solidFill>
            <a:srgbClr val="E8520A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RASOI CAPITAL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78638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5200"/>
              </a:lnSpc>
              <a:buNone/>
            </a:pPr>
            <a:r>
              <a:rPr lang="en-US" sz="4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feeds the world.
</a:t>
            </a:r>
            <a:pPr indent="0" marL="0">
              <a:lnSpc>
                <a:spcPts val="5200"/>
              </a:lnSpc>
              <a:buNone/>
            </a:pPr>
            <a:r>
              <a:rPr lang="en-US" sz="4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funds </a:t>
            </a:r>
            <a:pPr indent="0" marL="0">
              <a:lnSpc>
                <a:spcPts val="5200"/>
              </a:lnSpc>
              <a:buNone/>
            </a:pPr>
            <a:r>
              <a:rPr lang="en-US" sz="4400" b="1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kitchen.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640080" y="269748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AI-first lending platform for India's ₹5.7 lakh crore HORECA industry —</a:t>
            </a:r>
            <a:endParaRPr lang="en-US" sz="15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 a live, working underwriting engine you can test today.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3611880"/>
            <a:ext cx="786384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38100" dir="5400000">
              <a:srgbClr val="94A3B8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68680" y="3767328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68680" y="4005072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₹50 Cr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2715768" y="3794760"/>
            <a:ext cx="0" cy="54864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807208" y="3767328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807208" y="4005072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NBFC Licence + NOF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654296" y="3794760"/>
            <a:ext cx="0" cy="54864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45736" y="3767328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STATUS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745736" y="4005072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&amp; Demo-Ready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592824" y="3794760"/>
            <a:ext cx="0" cy="54864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84264" y="3767328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684264" y="4005072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 / Pre-Series A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40080" y="470916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Nexus AI  ·  Bengaluru  ·  Investor Presentation  ·  June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WE BEGIN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not a concept deck.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170432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in the next 14 slides is running in production, right now. You're welcome to open it on your phone while we talk.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828800"/>
            <a:ext cx="2697480" cy="2331720"/>
          </a:xfrm>
          <a:prstGeom prst="roundRect">
            <a:avLst>
              <a:gd name="adj" fmla="val 3922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CBD5E1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67512" y="1993392"/>
            <a:ext cx="777240" cy="274320"/>
          </a:xfrm>
          <a:prstGeom prst="roundRect">
            <a:avLst>
              <a:gd name="adj" fmla="val 20000"/>
            </a:avLst>
          </a:prstGeom>
          <a:solidFill>
            <a:srgbClr val="15803D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" y="1993392"/>
            <a:ext cx="777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67512" y="237744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Underwriting Engine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67512" y="2907792"/>
            <a:ext cx="23774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6-factor HORECA credit model scores any outlet in under a second and writes a full AI risk memo.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67512" y="3822192"/>
            <a:ext cx="2377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rasoi-capital.vercel.app/underwrite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383280" y="1828800"/>
            <a:ext cx="2697480" cy="2331720"/>
          </a:xfrm>
          <a:prstGeom prst="roundRect">
            <a:avLst>
              <a:gd name="adj" fmla="val 3922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CBD5E1">
                <a:alpha val="2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547872" y="1993392"/>
            <a:ext cx="777240" cy="274320"/>
          </a:xfrm>
          <a:prstGeom prst="roundRect">
            <a:avLst>
              <a:gd name="adj" fmla="val 20000"/>
            </a:avLst>
          </a:prstGeom>
          <a:solidFill>
            <a:srgbClr val="15803D"/>
          </a:solidFill>
          <a:ln/>
        </p:spPr>
      </p:sp>
      <p:sp>
        <p:nvSpPr>
          <p:cNvPr id="13" name="Text 11"/>
          <p:cNvSpPr/>
          <p:nvPr/>
        </p:nvSpPr>
        <p:spPr>
          <a:xfrm>
            <a:off x="3547872" y="1993392"/>
            <a:ext cx="777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547872" y="237744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Lending Platform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547872" y="2907792"/>
            <a:ext cx="23774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Applications, loan book, daily-EMI collections engine, DPD buckets, portfolio analytics. 17-table production database.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3547872" y="3822192"/>
            <a:ext cx="2377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rasoi-capital.vercel.app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263640" y="1828800"/>
            <a:ext cx="2697480" cy="2331720"/>
          </a:xfrm>
          <a:prstGeom prst="roundRect">
            <a:avLst>
              <a:gd name="adj" fmla="val 3922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CBD5E1">
                <a:alpha val="2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28232" y="1993392"/>
            <a:ext cx="777240" cy="274320"/>
          </a:xfrm>
          <a:prstGeom prst="roundRect">
            <a:avLst>
              <a:gd name="adj" fmla="val 20000"/>
            </a:avLst>
          </a:prstGeom>
          <a:solidFill>
            <a:srgbClr val="B45309"/>
          </a:solidFill>
          <a:ln/>
        </p:spPr>
      </p:sp>
      <p:sp>
        <p:nvSpPr>
          <p:cNvPr id="19" name="Text 17"/>
          <p:cNvSpPr/>
          <p:nvPr/>
        </p:nvSpPr>
        <p:spPr>
          <a:xfrm>
            <a:off x="6428232" y="1993392"/>
            <a:ext cx="777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DRAFTED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428232" y="237744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RBI-Aligned Policy Stack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428232" y="2907792"/>
            <a:ext cx="23774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policy, collection &amp; recovery policy (Fair Practices Code), bureau reporting framework — written, reviewed, board-ready.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428232" y="3822192"/>
            <a:ext cx="2377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Available in data room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02920" y="4370832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FFF4EC"/>
          </a:solidFill>
          <a:ln w="12700">
            <a:solidFill>
              <a:srgbClr val="E8520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453128"/>
            <a:ext cx="7955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 DEMO MOMENT №1 — </a:t>
            </a:r>
            <a:pPr indent="0" marL="0">
              <a:buNone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will underwrite a live restaurant on screen at slide 7. Hold your scepticism until then.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8549640" y="4864608"/>
            <a:ext cx="411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0" y="5074920"/>
            <a:ext cx="9144000" cy="68580"/>
          </a:xfrm>
          <a:prstGeom prst="rect">
            <a:avLst/>
          </a:prstGeom>
          <a:solidFill>
            <a:srgbClr val="E8520A"/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Kitchens run on credit nobody gives them.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3931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restaurant earning ₹7 lakh a month — daily cash flow, real customers, real margins — walks into a bank and gets rejected. Why?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2212848"/>
            <a:ext cx="502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051560" y="2231136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ITR can't see daily cash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51560" y="2505456"/>
            <a:ext cx="3429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30–40% of HORECA revenue is cash &amp; UPI that annual filings under-report. Banks score the paperwork, not the business.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02920" y="3108960"/>
            <a:ext cx="502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051560" y="3127248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Generic SME models misfire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51560" y="3401568"/>
            <a:ext cx="3429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dhaba and a steel trader get the same scorecard. Margin structures, seasonality, footfall — all invisible to NBFC models.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02920" y="4005072"/>
            <a:ext cx="502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051560" y="402336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EMI vs daily income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51560" y="4297680"/>
            <a:ext cx="3429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HORECA earns daily but repays monthly — one bad week breaks the EMI. Product design itself manufactures defaults.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800600" y="1325880"/>
            <a:ext cx="3931920" cy="3520440"/>
          </a:xfrm>
          <a:prstGeom prst="roundRect">
            <a:avLst>
              <a:gd name="adj" fmla="val 3117"/>
            </a:avLst>
          </a:prstGeom>
          <a:solidFill>
            <a:srgbClr val="FAF7F2"/>
          </a:solidFill>
          <a:ln/>
          <a:effectLst>
            <a:outerShdw sx="100000" sy="100000" kx="0" ky="0" algn="bl" rotWithShape="0" blurRad="76200" dist="25400" dir="5400000">
              <a:srgbClr val="CBD5E1">
                <a:alpha val="2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029200" y="1481328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WHERE DO THEY GO?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029200" y="1783080"/>
            <a:ext cx="347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36–48%</a:t>
            </a:r>
            <a:endParaRPr lang="en-US" sz="4200" dirty="0"/>
          </a:p>
        </p:txBody>
      </p:sp>
      <p:sp>
        <p:nvSpPr>
          <p:cNvPr id="17" name="Text 15"/>
          <p:cNvSpPr/>
          <p:nvPr/>
        </p:nvSpPr>
        <p:spPr>
          <a:xfrm>
            <a:off x="5029200" y="2450592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p.a. — informal moneylenders, the default banker of Indian HORECA.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029200" y="3035808"/>
            <a:ext cx="3474720" cy="0"/>
          </a:xfrm>
          <a:prstGeom prst="line">
            <a:avLst/>
          </a:prstGeom>
          <a:noFill/>
          <a:ln w="12700">
            <a:solidFill>
              <a:srgbClr val="E7DCC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0" y="3163824"/>
            <a:ext cx="1051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8.5M+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126480" y="3200400"/>
            <a:ext cx="24688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employed — India's 2nd largest employer (NRAI)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5029200" y="3694176"/>
            <a:ext cx="1051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~70%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126480" y="3730752"/>
            <a:ext cx="24688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outlets remain outside formal credit (industry est.)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029200" y="4224528"/>
            <a:ext cx="1051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₹1.9%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126480" y="4261104"/>
            <a:ext cx="24688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GDP — yet no dedicated HORECA lender exists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8549640" y="4864608"/>
            <a:ext cx="411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0" y="5074920"/>
            <a:ext cx="9144000" cy="68580"/>
          </a:xfrm>
          <a:prstGeom prst="rect">
            <a:avLst/>
          </a:prstGeom>
          <a:solidFill>
            <a:srgbClr val="E8520A"/>
          </a:solidFill>
          <a:ln/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MARKET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3rd-largest food market on Earth by 2028.</a:t>
            </a:r>
            <a:endParaRPr lang="en-US" sz="27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02920" y="1481328"/>
          <a:ext cx="402336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443484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 food services industry, NRAI IFSR 2024 · 8.1% CAGR · organised segment growing 13.2%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4800600" y="1481328"/>
            <a:ext cx="3977640" cy="932688"/>
          </a:xfrm>
          <a:prstGeom prst="roundRect">
            <a:avLst>
              <a:gd name="adj" fmla="val 8824"/>
            </a:avLst>
          </a:prstGeom>
          <a:solidFill>
            <a:srgbClr val="FDE8DB"/>
          </a:solidFill>
          <a:ln/>
          <a:effectLst>
            <a:outerShdw sx="100000" sy="100000" kx="0" ky="0" algn="bl" rotWithShape="0" blurRad="76200" dist="25400" dir="5400000">
              <a:srgbClr val="CBD5E1">
                <a:alpha val="2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4983480" y="1554480"/>
            <a:ext cx="36118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 — HORECA credit demand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4983480" y="1755648"/>
            <a:ext cx="3611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₹95,000+ Cr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4983480" y="2066544"/>
            <a:ext cx="3657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capital + expansion credit demand across 14M+ outlets (est. at ~12% of industry GMV)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4800600" y="2542032"/>
            <a:ext cx="3200400" cy="932688"/>
          </a:xfrm>
          <a:prstGeom prst="roundRect">
            <a:avLst>
              <a:gd name="adj" fmla="val 8824"/>
            </a:avLst>
          </a:prstGeom>
          <a:solidFill>
            <a:srgbClr val="FACDB0"/>
          </a:solidFill>
          <a:ln/>
          <a:effectLst>
            <a:outerShdw sx="100000" sy="100000" kx="0" ky="0" algn="bl" rotWithShape="0" blurRad="76200" dist="25400" dir="5400000">
              <a:srgbClr val="CBD5E1">
                <a:alpha val="25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4983480" y="2615184"/>
            <a:ext cx="2834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 — Organised, physical, metro+T1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4983480" y="2816352"/>
            <a:ext cx="2834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₹28,000 Cr</a:t>
            </a:r>
            <a:endParaRPr lang="en-US" sz="1900" dirty="0"/>
          </a:p>
        </p:txBody>
      </p:sp>
      <p:sp>
        <p:nvSpPr>
          <p:cNvPr id="13" name="Text 10"/>
          <p:cNvSpPr/>
          <p:nvPr/>
        </p:nvSpPr>
        <p:spPr>
          <a:xfrm>
            <a:off x="4983480" y="3127248"/>
            <a:ext cx="2880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Customer-facing outlets in top 20 cities with digital payment trails — our underwritable universe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4800600" y="3602736"/>
            <a:ext cx="2377440" cy="932688"/>
          </a:xfrm>
          <a:prstGeom prst="roundRect">
            <a:avLst>
              <a:gd name="adj" fmla="val 8824"/>
            </a:avLst>
          </a:prstGeom>
          <a:solidFill>
            <a:srgbClr val="E8520A"/>
          </a:solidFill>
          <a:ln/>
          <a:effectLst>
            <a:outerShdw sx="100000" sy="100000" kx="0" ky="0" algn="bl" rotWithShape="0" blurRad="127000" dist="38100" dir="5400000">
              <a:srgbClr val="94A3B8">
                <a:alpha val="18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4983480" y="3675888"/>
            <a:ext cx="2011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FFE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 — 5-year target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4983480" y="3877056"/>
            <a:ext cx="2011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₹1,500 Cr AUM</a:t>
            </a:r>
            <a:endParaRPr lang="en-US" sz="1900" dirty="0"/>
          </a:p>
        </p:txBody>
      </p:sp>
      <p:sp>
        <p:nvSpPr>
          <p:cNvPr id="17" name="Text 14"/>
          <p:cNvSpPr/>
          <p:nvPr/>
        </p:nvSpPr>
        <p:spPr>
          <a:xfrm>
            <a:off x="4983480" y="4187952"/>
            <a:ext cx="2057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FFE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~30,000 active loans at ₹5L average — 0.2% of outlets. Oxyzo built ₹11,822Cr AUM in broad SME; we need a sliver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8549640" y="4864608"/>
            <a:ext cx="411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0" y="5074920"/>
            <a:ext cx="9144000" cy="68580"/>
          </a:xfrm>
          <a:prstGeom prst="rect">
            <a:avLst/>
          </a:prstGeom>
          <a:solidFill>
            <a:srgbClr val="E8520A"/>
          </a:solidFill>
          <a:ln/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around how a kitchen actually earns.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481328"/>
            <a:ext cx="2697480" cy="3246120"/>
          </a:xfrm>
          <a:prstGeom prst="roundRect">
            <a:avLst>
              <a:gd name="adj" fmla="val 406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94A3B8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481328"/>
            <a:ext cx="2697480" cy="109728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700784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🧠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685800" y="224028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that sees the business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685800" y="2834640"/>
            <a:ext cx="2395728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</a:t>
            </a:r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6-factor HORECA scoring engine — margin, growth, sales, location, ambience, bureau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685800" y="3438144"/>
            <a:ext cx="2395728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</a:t>
            </a:r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AI writes a full credit memo for every decision — transparent, auditable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85800" y="4041648"/>
            <a:ext cx="2395728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</a:t>
            </a:r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FSA field force captures what no API can: footfall, hygiene, real seating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383280" y="1481328"/>
            <a:ext cx="2697480" cy="3246120"/>
          </a:xfrm>
          <a:prstGeom prst="roundRect">
            <a:avLst>
              <a:gd name="adj" fmla="val 406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94A3B8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383280" y="1481328"/>
            <a:ext cx="2697480" cy="109728"/>
          </a:xfrm>
          <a:prstGeom prst="rect">
            <a:avLst/>
          </a:prstGeom>
          <a:solidFill>
            <a:srgbClr val="E8520A"/>
          </a:solidFill>
          <a:ln/>
        </p:spPr>
      </p:sp>
      <p:sp>
        <p:nvSpPr>
          <p:cNvPr id="13" name="Text 11"/>
          <p:cNvSpPr/>
          <p:nvPr/>
        </p:nvSpPr>
        <p:spPr>
          <a:xfrm>
            <a:off x="3566160" y="1700784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⏰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3566160" y="224028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 that follows the cash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3566160" y="2834640"/>
            <a:ext cx="2395728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</a:t>
            </a:r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EMI auto-debited 9–11 PM — right after the dinner-rush peak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566160" y="3438144"/>
            <a:ext cx="2395728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</a:t>
            </a:r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Multi-bank waterfall: primary → secondary → tertiary standing instructions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3566160" y="4041648"/>
            <a:ext cx="2395728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</a:t>
            </a:r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 a day? Recoup any day that month — bureau sees only the monthly total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263640" y="1481328"/>
            <a:ext cx="2697480" cy="3246120"/>
          </a:xfrm>
          <a:prstGeom prst="roundRect">
            <a:avLst>
              <a:gd name="adj" fmla="val 406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94A3B8">
                <a:alpha val="1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263640" y="1481328"/>
            <a:ext cx="2697480" cy="109728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20" name="Text 18"/>
          <p:cNvSpPr/>
          <p:nvPr/>
        </p:nvSpPr>
        <p:spPr>
          <a:xfrm>
            <a:off x="6446520" y="1700784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🛡️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6446520" y="224028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Collections built for dignity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6446520" y="2834640"/>
            <a:ext cx="2395728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</a:t>
            </a:r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5-bucket framework (Clean → NPA) under RBI Fair Practices Code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6446520" y="3438144"/>
            <a:ext cx="2395728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</a:t>
            </a:r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payers earn weekly/monthly EMI upgrades + cross-sell after 6 months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446520" y="4041648"/>
            <a:ext cx="2395728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</a:t>
            </a:r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Escalation proportional to DPD — relationship first, recovery second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8549640" y="4864608"/>
            <a:ext cx="411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0" y="5074920"/>
            <a:ext cx="9144000" cy="68580"/>
          </a:xfrm>
          <a:prstGeom prst="rect">
            <a:avLst/>
          </a:prstGeom>
          <a:solidFill>
            <a:srgbClr val="E8520A"/>
          </a:solidFill>
          <a:ln/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· AI UNDERWRITING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factors. One score. Full explanation.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133856"/>
            <a:ext cx="8321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Generic lenders run ITR + CIBIL. We run the restaurant.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16642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Outlet Margin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377440" y="1664208"/>
            <a:ext cx="3108960" cy="274320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/>
        </p:spPr>
      </p:sp>
      <p:sp>
        <p:nvSpPr>
          <p:cNvPr id="7" name="Shape 5"/>
          <p:cNvSpPr/>
          <p:nvPr/>
        </p:nvSpPr>
        <p:spPr>
          <a:xfrm>
            <a:off x="2377440" y="1664208"/>
            <a:ext cx="3108960" cy="274320"/>
          </a:xfrm>
          <a:prstGeom prst="roundRect">
            <a:avLst>
              <a:gd name="adj" fmla="val 16667"/>
            </a:avLst>
          </a:prstGeom>
          <a:solidFill>
            <a:srgbClr val="E8520A"/>
          </a:solidFill>
          <a:ln/>
        </p:spPr>
      </p:sp>
      <p:sp>
        <p:nvSpPr>
          <p:cNvPr id="8" name="Text 6"/>
          <p:cNvSpPr/>
          <p:nvPr/>
        </p:nvSpPr>
        <p:spPr>
          <a:xfrm>
            <a:off x="5532120" y="16642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35040" y="1682496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Menu-category matrix (A–D): premium 35% → value 24%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502920" y="21214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Q-Q Revenue Growth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377440" y="2121408"/>
            <a:ext cx="3108960" cy="274320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/>
        </p:spPr>
      </p:sp>
      <p:sp>
        <p:nvSpPr>
          <p:cNvPr id="12" name="Shape 10"/>
          <p:cNvSpPr/>
          <p:nvPr/>
        </p:nvSpPr>
        <p:spPr>
          <a:xfrm>
            <a:off x="2377440" y="2121408"/>
            <a:ext cx="3108960" cy="274320"/>
          </a:xfrm>
          <a:prstGeom prst="roundRect">
            <a:avLst>
              <a:gd name="adj" fmla="val 16667"/>
            </a:avLst>
          </a:prstGeom>
          <a:solidFill>
            <a:srgbClr val="F97316"/>
          </a:solidFill>
          <a:ln/>
        </p:spPr>
      </p:sp>
      <p:sp>
        <p:nvSpPr>
          <p:cNvPr id="13" name="Text 11"/>
          <p:cNvSpPr/>
          <p:nvPr/>
        </p:nvSpPr>
        <p:spPr>
          <a:xfrm>
            <a:off x="5532120" y="21214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035040" y="2139696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statements + Swiggy/Zomato payout trails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502920" y="25786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Monthly Sales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377440" y="2578608"/>
            <a:ext cx="3108960" cy="274320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/>
        </p:spPr>
      </p:sp>
      <p:sp>
        <p:nvSpPr>
          <p:cNvPr id="17" name="Shape 15"/>
          <p:cNvSpPr/>
          <p:nvPr/>
        </p:nvSpPr>
        <p:spPr>
          <a:xfrm>
            <a:off x="2377440" y="2578608"/>
            <a:ext cx="2072640" cy="274320"/>
          </a:xfrm>
          <a:prstGeom prst="roundRect">
            <a:avLst>
              <a:gd name="adj" fmla="val 16667"/>
            </a:avLst>
          </a:prstGeom>
          <a:solidFill>
            <a:srgbClr val="B45309"/>
          </a:solidFill>
          <a:ln/>
        </p:spPr>
      </p:sp>
      <p:sp>
        <p:nvSpPr>
          <p:cNvPr id="18" name="Text 16"/>
          <p:cNvSpPr/>
          <p:nvPr/>
        </p:nvSpPr>
        <p:spPr>
          <a:xfrm>
            <a:off x="5532120" y="25786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035040" y="2596896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3-month verified average across ALL declared accounts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02920" y="30358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 Type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2377440" y="3035808"/>
            <a:ext cx="3108960" cy="274320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/>
        </p:spPr>
      </p:sp>
      <p:sp>
        <p:nvSpPr>
          <p:cNvPr id="22" name="Shape 20"/>
          <p:cNvSpPr/>
          <p:nvPr/>
        </p:nvSpPr>
        <p:spPr>
          <a:xfrm>
            <a:off x="2377440" y="3035808"/>
            <a:ext cx="1036320" cy="274320"/>
          </a:xfrm>
          <a:prstGeom prst="roundRect">
            <a:avLst>
              <a:gd name="adj" fmla="val 16667"/>
            </a:avLst>
          </a:prstGeom>
          <a:solidFill>
            <a:srgbClr val="0F766E"/>
          </a:solidFill>
          <a:ln/>
        </p:spPr>
      </p:sp>
      <p:sp>
        <p:nvSpPr>
          <p:cNvPr id="23" name="Text 21"/>
          <p:cNvSpPr/>
          <p:nvPr/>
        </p:nvSpPr>
        <p:spPr>
          <a:xfrm>
            <a:off x="5532120" y="30358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035040" y="3054096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FSA geo-tag: IT park / mall / high street / captive / other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02920" y="3493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Ambience Score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377440" y="3493008"/>
            <a:ext cx="3108960" cy="274320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/>
        </p:spPr>
      </p:sp>
      <p:sp>
        <p:nvSpPr>
          <p:cNvPr id="27" name="Shape 25"/>
          <p:cNvSpPr/>
          <p:nvPr/>
        </p:nvSpPr>
        <p:spPr>
          <a:xfrm>
            <a:off x="2377440" y="3493008"/>
            <a:ext cx="518160" cy="274320"/>
          </a:xfrm>
          <a:prstGeom prst="roundRect">
            <a:avLst>
              <a:gd name="adj" fmla="val 16667"/>
            </a:avLst>
          </a:prstGeom>
          <a:solidFill>
            <a:srgbClr val="1D4ED8"/>
          </a:solidFill>
          <a:ln/>
        </p:spPr>
      </p:sp>
      <p:sp>
        <p:nvSpPr>
          <p:cNvPr id="28" name="Text 26"/>
          <p:cNvSpPr/>
          <p:nvPr/>
        </p:nvSpPr>
        <p:spPr>
          <a:xfrm>
            <a:off x="5532120" y="34930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5%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035040" y="3511296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FSA field visit — décor, seating, hygiene (3-flag system)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502920" y="39502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CIBIL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2377440" y="3950208"/>
            <a:ext cx="3108960" cy="274320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/>
        </p:spPr>
      </p:sp>
      <p:sp>
        <p:nvSpPr>
          <p:cNvPr id="32" name="Shape 30"/>
          <p:cNvSpPr/>
          <p:nvPr/>
        </p:nvSpPr>
        <p:spPr>
          <a:xfrm>
            <a:off x="2377440" y="3950208"/>
            <a:ext cx="518160" cy="274320"/>
          </a:xfrm>
          <a:prstGeom prst="roundRect">
            <a:avLst>
              <a:gd name="adj" fmla="val 16667"/>
            </a:avLst>
          </a:prstGeom>
          <a:solidFill>
            <a:srgbClr val="94A3B8"/>
          </a:solidFill>
          <a:ln/>
        </p:spPr>
      </p:sp>
      <p:sp>
        <p:nvSpPr>
          <p:cNvPr id="33" name="Text 31"/>
          <p:cNvSpPr/>
          <p:nvPr/>
        </p:nvSpPr>
        <p:spPr>
          <a:xfrm>
            <a:off x="5532120" y="39502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5%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035040" y="3968496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Bureau pull — deliberately the smallest weight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502920" y="4434840"/>
            <a:ext cx="8229600" cy="475488"/>
          </a:xfrm>
          <a:prstGeom prst="roundRect">
            <a:avLst>
              <a:gd name="adj" fmla="val 15385"/>
            </a:avLst>
          </a:prstGeom>
          <a:solidFill>
            <a:srgbClr val="F5F3FF"/>
          </a:solidFill>
          <a:ln w="12700">
            <a:solidFill>
              <a:srgbClr val="6D28D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" y="4535424"/>
            <a:ext cx="7955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1–5 → Bucket </a:t>
            </a:r>
            <a:pPr indent="0" marL="0">
              <a:buNone/>
            </a:pPr>
            <a:r>
              <a:rPr lang="en-US" sz="115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 (auto-approve · 18%)</a:t>
            </a:r>
            <a:pPr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115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(conditional · 19–20%)</a:t>
            </a:r>
            <a:pPr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115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(manual / reject)</a:t>
            </a:r>
            <a:pPr indent="0" marL="0">
              <a:buNone/>
            </a:pPr>
            <a:r>
              <a:rPr lang="en-US" sz="115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+  Claude AI credit memo on every run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8549640" y="4864608"/>
            <a:ext cx="411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0" y="5074920"/>
            <a:ext cx="9144000" cy="68580"/>
          </a:xfrm>
          <a:prstGeom prst="rect">
            <a:avLst/>
          </a:prstGeom>
          <a:solidFill>
            <a:srgbClr val="E8520A"/>
          </a:solidFill>
          <a:ln/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08960" y="411480"/>
            <a:ext cx="2926080" cy="420624"/>
          </a:xfrm>
          <a:prstGeom prst="roundRect">
            <a:avLst>
              <a:gd name="adj" fmla="val 50000"/>
            </a:avLst>
          </a:prstGeom>
          <a:solidFill>
            <a:srgbClr val="E8520A"/>
          </a:solidFill>
          <a:ln/>
        </p:spPr>
      </p:sp>
      <p:sp>
        <p:nvSpPr>
          <p:cNvPr id="3" name="Text 1"/>
          <p:cNvSpPr/>
          <p:nvPr/>
        </p:nvSpPr>
        <p:spPr>
          <a:xfrm>
            <a:off x="3108960" y="411480"/>
            <a:ext cx="2926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 LIVE DEMO — 90 SECONDS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Let's underwrite a real restaurant. Right now.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572768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rasoi-capital.vercel.app/underwrite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31520" y="2103120"/>
            <a:ext cx="3749040" cy="26060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94A3B8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914400" y="2240280"/>
            <a:ext cx="3383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TYPE  (the investor picks the numbers)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914400" y="2560320"/>
            <a:ext cx="1600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Outlet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514600" y="2560320"/>
            <a:ext cx="1874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Spice Garden Cafe, Bengaluru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914400" y="2907792"/>
            <a:ext cx="1600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/ Location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514600" y="2907792"/>
            <a:ext cx="1874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Mid-premium · High street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914400" y="3255264"/>
            <a:ext cx="1600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monthly sales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514600" y="3255264"/>
            <a:ext cx="1874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₹7,00,000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914400" y="3602736"/>
            <a:ext cx="1600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Q-Q growth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514600" y="3602736"/>
            <a:ext cx="1874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12%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914400" y="3950208"/>
            <a:ext cx="1600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CIBIL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514600" y="3950208"/>
            <a:ext cx="1874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740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914400" y="4297680"/>
            <a:ext cx="1600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Ambience (FSA)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514600" y="4297680"/>
            <a:ext cx="1874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positive · 1 average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434840" y="3108960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3000" dirty="0"/>
          </a:p>
        </p:txBody>
      </p:sp>
      <p:sp>
        <p:nvSpPr>
          <p:cNvPr id="21" name="Shape 19"/>
          <p:cNvSpPr/>
          <p:nvPr/>
        </p:nvSpPr>
        <p:spPr>
          <a:xfrm>
            <a:off x="4800600" y="2103120"/>
            <a:ext cx="3749040" cy="2606040"/>
          </a:xfrm>
          <a:prstGeom prst="roundRect">
            <a:avLst>
              <a:gd name="adj" fmla="val 4211"/>
            </a:avLst>
          </a:prstGeom>
          <a:solidFill>
            <a:srgbClr val="0F172A"/>
          </a:solidFill>
          <a:ln/>
          <a:effectLst>
            <a:outerShdw sx="100000" sy="100000" kx="0" ky="0" algn="bl" rotWithShape="0" blurRad="127000" dist="38100" dir="5400000">
              <a:srgbClr val="94A3B8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983480" y="2240280"/>
            <a:ext cx="3383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FDB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 RETURNS  (~2 seconds)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983480" y="256032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Composite score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675120" y="2560320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3.70 / 5.00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983480" y="2907792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Bucket / decision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675120" y="2907792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CD3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— Approve w/ conditions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983480" y="3255264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/ fee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675120" y="3255264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19% p.a. · 2.5% PF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983480" y="3602736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Loan (Cycle-1 cap)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675120" y="3602736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₹7,00,000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983480" y="3950208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EMI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675120" y="3950208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DB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₹3,500/day at 9 PM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983480" y="429768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Claude credit memo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675120" y="4297680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 factors · path to G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57200" y="4800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number on the right is computed live in our production database — not a mock-up.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8549640" y="4864608"/>
            <a:ext cx="411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0" y="5074920"/>
            <a:ext cx="9144000" cy="68580"/>
          </a:xfrm>
          <a:prstGeom prst="rect">
            <a:avLst/>
          </a:prstGeom>
          <a:solidFill>
            <a:srgbClr val="E8520A"/>
          </a:solidFill>
          <a:ln/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· COLLECTIONS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collect at 9 PM — when the till is full.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133856"/>
            <a:ext cx="8321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single biggest design unlock in HORECA lending. No competitor does this.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02920" y="1691640"/>
          <a:ext cx="466344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3977640" y="1783080"/>
            <a:ext cx="1078992" cy="365760"/>
          </a:xfrm>
          <a:prstGeom prst="roundRect">
            <a:avLst>
              <a:gd name="adj" fmla="val 15000"/>
            </a:avLst>
          </a:prstGeom>
          <a:solidFill>
            <a:srgbClr val="DCFCE7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977640" y="1810512"/>
            <a:ext cx="10789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 window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9–11 PM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502920" y="4114800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peak 8–10 PM → standing instruction fires 9–11 PM, by outlet type &amp; city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5440680" y="1664208"/>
            <a:ext cx="274320" cy="274320"/>
          </a:xfrm>
          <a:prstGeom prst="ellipse">
            <a:avLst/>
          </a:prstGeom>
          <a:solidFill>
            <a:srgbClr val="E8520A"/>
          </a:solidFill>
          <a:ln/>
        </p:spPr>
      </p:sp>
      <p:sp>
        <p:nvSpPr>
          <p:cNvPr id="10" name="Text 7"/>
          <p:cNvSpPr/>
          <p:nvPr/>
        </p:nvSpPr>
        <p:spPr>
          <a:xfrm>
            <a:off x="5440680" y="166420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5833872" y="1645920"/>
            <a:ext cx="3063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EMI ≈ ₹3,500, not monthly ₹1,05,000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5833872" y="1920240"/>
            <a:ext cx="30632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bad Tuesday costs one day's EMI — not the month. Borrower stress and default probability collapse together.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5440680" y="2505456"/>
            <a:ext cx="274320" cy="274320"/>
          </a:xfrm>
          <a:prstGeom prst="ellipse">
            <a:avLst/>
          </a:prstGeom>
          <a:solidFill>
            <a:srgbClr val="E8520A"/>
          </a:solidFill>
          <a:ln/>
        </p:spPr>
      </p:sp>
      <p:sp>
        <p:nvSpPr>
          <p:cNvPr id="14" name="Text 11"/>
          <p:cNvSpPr/>
          <p:nvPr/>
        </p:nvSpPr>
        <p:spPr>
          <a:xfrm>
            <a:off x="5440680" y="2505456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5833872" y="2487168"/>
            <a:ext cx="3063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Multi-bank waterfall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5833872" y="2761488"/>
            <a:ext cx="30632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→ secondary → tertiary accounts tried in sequence. HORECA's multi-account reality becomes our collection asset.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5440680" y="3346704"/>
            <a:ext cx="274320" cy="274320"/>
          </a:xfrm>
          <a:prstGeom prst="ellipse">
            <a:avLst/>
          </a:prstGeom>
          <a:solidFill>
            <a:srgbClr val="E8520A"/>
          </a:solidFill>
          <a:ln/>
        </p:spPr>
      </p:sp>
      <p:sp>
        <p:nvSpPr>
          <p:cNvPr id="18" name="Text 15"/>
          <p:cNvSpPr/>
          <p:nvPr/>
        </p:nvSpPr>
        <p:spPr>
          <a:xfrm>
            <a:off x="5440680" y="334670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5833872" y="3328416"/>
            <a:ext cx="3063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Recoup window all month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5833872" y="3602736"/>
            <a:ext cx="30632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Missed days can be made up any day before month-end. Bureau reporting is monthly-cumulative — daily slips never scar the borrower's CIBIL.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5440680" y="4187952"/>
            <a:ext cx="274320" cy="274320"/>
          </a:xfrm>
          <a:prstGeom prst="ellipse">
            <a:avLst/>
          </a:prstGeom>
          <a:solidFill>
            <a:srgbClr val="E8520A"/>
          </a:solidFill>
          <a:ln/>
        </p:spPr>
      </p:sp>
      <p:sp>
        <p:nvSpPr>
          <p:cNvPr id="22" name="Text 19"/>
          <p:cNvSpPr/>
          <p:nvPr/>
        </p:nvSpPr>
        <p:spPr>
          <a:xfrm>
            <a:off x="5440680" y="418795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5833872" y="4169664"/>
            <a:ext cx="3063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behaviour graduates</a:t>
            </a:r>
            <a:endParaRPr lang="en-US" sz="1150" dirty="0"/>
          </a:p>
        </p:txBody>
      </p:sp>
      <p:sp>
        <p:nvSpPr>
          <p:cNvPr id="24" name="Text 21"/>
          <p:cNvSpPr/>
          <p:nvPr/>
        </p:nvSpPr>
        <p:spPr>
          <a:xfrm>
            <a:off x="5833872" y="4443984"/>
            <a:ext cx="30632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clean months → option of weekly/monthly EMI + larger Cycle-2 limits. Collections doubles as a retention engine.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8549640" y="4864608"/>
            <a:ext cx="411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0" y="5074920"/>
            <a:ext cx="9144000" cy="68580"/>
          </a:xfrm>
          <a:prstGeom prst="rect">
            <a:avLst/>
          </a:prstGeom>
          <a:solidFill>
            <a:srgbClr val="E8520A"/>
          </a:solidFill>
          <a:ln/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· RISK MANAGEMENT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collections ladder a regulator would write.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133856"/>
            <a:ext cx="8321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Board-ready Collection &amp; Recovery Policy — RBI Fair Practices Code, IBC-aligned, fully documented.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02920" y="1691640"/>
            <a:ext cx="822960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CBD5E1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02920" y="1691640"/>
            <a:ext cx="128016" cy="566928"/>
          </a:xfrm>
          <a:prstGeom prst="roundRect">
            <a:avLst>
              <a:gd name="adj" fmla="val 21429"/>
            </a:avLst>
          </a:prstGeom>
          <a:solidFill>
            <a:srgbClr val="15803D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764792"/>
            <a:ext cx="11887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BUCKET 0a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77240" y="1965960"/>
            <a:ext cx="1188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103120" y="18470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daily misses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749040" y="178308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 &amp; graduate — weekly/monthly EMI option, cross-sell, Cycle-2 priority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02920" y="2331720"/>
            <a:ext cx="822960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CBD5E1">
                <a:alpha val="2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02920" y="2331720"/>
            <a:ext cx="128016" cy="566928"/>
          </a:xfrm>
          <a:prstGeom prst="roundRect">
            <a:avLst>
              <a:gd name="adj" fmla="val 21429"/>
            </a:avLst>
          </a:prstGeom>
          <a:solidFill>
            <a:srgbClr val="65A30D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2404872"/>
            <a:ext cx="11887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5A3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BUCKET 0b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777240" y="2606040"/>
            <a:ext cx="1188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103120" y="248716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misses, monthly clean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749040" y="242316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Nurture — understand skips, re-time the SI, positive reminders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02920" y="2971800"/>
            <a:ext cx="822960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CBD5E1">
                <a:alpha val="2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02920" y="2971800"/>
            <a:ext cx="128016" cy="566928"/>
          </a:xfrm>
          <a:prstGeom prst="roundRect">
            <a:avLst>
              <a:gd name="adj" fmla="val 21429"/>
            </a:avLst>
          </a:prstGeom>
          <a:solidFill>
            <a:srgbClr val="B45309"/>
          </a:solidFill>
          <a:ln/>
        </p:spPr>
      </p:sp>
      <p:sp>
        <p:nvSpPr>
          <p:cNvPr id="19" name="Text 17"/>
          <p:cNvSpPr/>
          <p:nvPr/>
        </p:nvSpPr>
        <p:spPr>
          <a:xfrm>
            <a:off x="777240" y="3044952"/>
            <a:ext cx="11887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BUCKET 1–2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77240" y="3246120"/>
            <a:ext cx="1188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(early)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103120" y="312724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1–60 DPD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749040" y="306324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 resolve — calls, PTPs logged in LMS, restructure to cash-flow cycle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02920" y="3611880"/>
            <a:ext cx="822960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CBD5E1">
                <a:alpha val="2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502920" y="3611880"/>
            <a:ext cx="128016" cy="566928"/>
          </a:xfrm>
          <a:prstGeom prst="roundRect">
            <a:avLst>
              <a:gd name="adj" fmla="val 21429"/>
            </a:avLst>
          </a:prstGeom>
          <a:solidFill>
            <a:srgbClr val="EA580C"/>
          </a:solidFill>
          <a:ln/>
        </p:spPr>
      </p:sp>
      <p:sp>
        <p:nvSpPr>
          <p:cNvPr id="25" name="Text 23"/>
          <p:cNvSpPr/>
          <p:nvPr/>
        </p:nvSpPr>
        <p:spPr>
          <a:xfrm>
            <a:off x="777240" y="3685032"/>
            <a:ext cx="11887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BUCKET 3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777240" y="3886200"/>
            <a:ext cx="1188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(late)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103120" y="376732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61–90 DPD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3749040" y="370332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 NPA — FSA field visit, distributor loop, intensive engagement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502920" y="4251960"/>
            <a:ext cx="822960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CBD5E1">
                <a:alpha val="2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502920" y="4251960"/>
            <a:ext cx="128016" cy="566928"/>
          </a:xfrm>
          <a:prstGeom prst="roundRect">
            <a:avLst>
              <a:gd name="adj" fmla="val 21429"/>
            </a:avLst>
          </a:prstGeom>
          <a:solidFill>
            <a:srgbClr val="B91C1C"/>
          </a:solidFill>
          <a:ln/>
        </p:spPr>
      </p:sp>
      <p:sp>
        <p:nvSpPr>
          <p:cNvPr id="31" name="Text 29"/>
          <p:cNvSpPr/>
          <p:nvPr/>
        </p:nvSpPr>
        <p:spPr>
          <a:xfrm>
            <a:off x="777240" y="4325112"/>
            <a:ext cx="11887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BUCKET 4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77240" y="4526280"/>
            <a:ext cx="1188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NPA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2103120" y="440740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90+ DPD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749040" y="434340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Settle &amp; close — legal/enforcement as last resort, dignity preserved throughout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8549640" y="4864608"/>
            <a:ext cx="411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0" y="5074920"/>
            <a:ext cx="9144000" cy="68580"/>
          </a:xfrm>
          <a:prstGeom prst="rect">
            <a:avLst/>
          </a:prstGeom>
          <a:solidFill>
            <a:srgbClr val="E8520A"/>
          </a:solidFill>
          <a:ln/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underwrites a kitchen. Until now.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365760" y="1325880"/>
            <a:ext cx="8458200" cy="38404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" y="1380744"/>
            <a:ext cx="16184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2103120" y="1380744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Oxyzo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182112" y="1380744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LendingKart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4261104" y="1380744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FlexiLoans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340096" y="1380744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Indifi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419088" y="1380744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NeoGrowth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7498080" y="1380744"/>
            <a:ext cx="12984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DB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RASOI CAPITAL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7452360" y="1709928"/>
            <a:ext cx="1371600" cy="3008376"/>
          </a:xfrm>
          <a:prstGeom prst="rect">
            <a:avLst/>
          </a:prstGeom>
          <a:solidFill>
            <a:srgbClr val="FFF4EC"/>
          </a:solidFill>
          <a:ln w="15875">
            <a:solidFill>
              <a:srgbClr val="E8520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11480" y="1801368"/>
            <a:ext cx="161848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HORECA-specific scoring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2103120" y="1801368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182112" y="1801368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261104" y="1801368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340096" y="1801368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419088" y="1801368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498080" y="1801368"/>
            <a:ext cx="12984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6-factor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65760" y="2139696"/>
            <a:ext cx="7086600" cy="429768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21" name="Text 19"/>
          <p:cNvSpPr/>
          <p:nvPr/>
        </p:nvSpPr>
        <p:spPr>
          <a:xfrm>
            <a:off x="411480" y="2231136"/>
            <a:ext cx="161848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intelligence (FSA)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2103120" y="2231136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182112" y="2231136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261104" y="2231136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5340096" y="2231136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419088" y="2231136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7498080" y="2231136"/>
            <a:ext cx="12984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Built-in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11480" y="2660904"/>
            <a:ext cx="161848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EMI @ cash peak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2103120" y="2660904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182112" y="2660904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261104" y="2660904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340096" y="2660904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419088" y="2660904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(POS)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7498080" y="2660904"/>
            <a:ext cx="12984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9–11 PM SI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5760" y="2999232"/>
            <a:ext cx="7086600" cy="429768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36" name="Text 34"/>
          <p:cNvSpPr/>
          <p:nvPr/>
        </p:nvSpPr>
        <p:spPr>
          <a:xfrm>
            <a:off x="411480" y="3090672"/>
            <a:ext cx="161848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credit memo per loan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2103120" y="3090672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3182112" y="3090672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261104" y="3090672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5340096" y="3090672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6419088" y="3090672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7498080" y="3090672"/>
            <a:ext cx="12984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Claude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411480" y="3520440"/>
            <a:ext cx="161848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Borrower-friendly bureau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2103120" y="3520440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3182112" y="3520440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4261104" y="3520440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5340096" y="3520440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6419088" y="3520440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7498080" y="3520440"/>
            <a:ext cx="12984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Monthly-cum.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365760" y="3858768"/>
            <a:ext cx="7086600" cy="429768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51" name="Text 49"/>
          <p:cNvSpPr/>
          <p:nvPr/>
        </p:nvSpPr>
        <p:spPr>
          <a:xfrm>
            <a:off x="411480" y="3950208"/>
            <a:ext cx="161848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Typical rate (SME)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2103120" y="3950208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12%+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3182112" y="3950208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18%+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4261104" y="3950208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19%+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5340096" y="3950208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Varies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6419088" y="3950208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20%+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7498080" y="3950208"/>
            <a:ext cx="12984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18–27% risk-based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411480" y="4379976"/>
            <a:ext cx="161848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(context)</a:t>
            </a:r>
            <a:endParaRPr lang="en-US" sz="950" dirty="0"/>
          </a:p>
        </p:txBody>
      </p:sp>
      <p:sp>
        <p:nvSpPr>
          <p:cNvPr id="59" name="Text 57"/>
          <p:cNvSpPr/>
          <p:nvPr/>
        </p:nvSpPr>
        <p:spPr>
          <a:xfrm>
            <a:off x="2103120" y="4379976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₹11.8k Cr AUM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3182112" y="4379976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5,000 params</a:t>
            </a:r>
            <a:endParaRPr lang="en-US" sz="900" dirty="0"/>
          </a:p>
        </p:txBody>
      </p:sp>
      <p:sp>
        <p:nvSpPr>
          <p:cNvPr id="61" name="Text 59"/>
          <p:cNvSpPr/>
          <p:nvPr/>
        </p:nvSpPr>
        <p:spPr>
          <a:xfrm>
            <a:off x="4261104" y="4379976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$313M raised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5340096" y="4379976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$129M raised</a:t>
            </a:r>
            <a:endParaRPr lang="en-US" sz="900" dirty="0"/>
          </a:p>
        </p:txBody>
      </p:sp>
      <p:sp>
        <p:nvSpPr>
          <p:cNvPr id="63" name="Text 61"/>
          <p:cNvSpPr/>
          <p:nvPr/>
        </p:nvSpPr>
        <p:spPr>
          <a:xfrm>
            <a:off x="6419088" y="4379976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POS-led</a:t>
            </a:r>
            <a:endParaRPr lang="en-US" sz="900" dirty="0"/>
          </a:p>
        </p:txBody>
      </p:sp>
      <p:sp>
        <p:nvSpPr>
          <p:cNvPr id="64" name="Text 62"/>
          <p:cNvSpPr/>
          <p:nvPr/>
        </p:nvSpPr>
        <p:spPr>
          <a:xfrm>
            <a:off x="7498080" y="4379976"/>
            <a:ext cx="12984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 + policies</a:t>
            </a:r>
            <a:endParaRPr lang="en-US" sz="900" dirty="0"/>
          </a:p>
        </p:txBody>
      </p:sp>
      <p:sp>
        <p:nvSpPr>
          <p:cNvPr id="65" name="Text 63"/>
          <p:cNvSpPr/>
          <p:nvPr/>
        </p:nvSpPr>
        <p:spPr>
          <a:xfrm>
            <a:off x="365760" y="4773168"/>
            <a:ext cx="8458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company disclosures, FY25–26 filings, CB Insights. Oxyzo FY26: ₹1,494Cr revenue, 0.74% NPA — proof SME lending prints money at scale; none of it is HORECA-deep.</a:t>
            </a:r>
            <a:endParaRPr lang="en-US" sz="850" dirty="0"/>
          </a:p>
        </p:txBody>
      </p:sp>
      <p:sp>
        <p:nvSpPr>
          <p:cNvPr id="66" name="Text 64"/>
          <p:cNvSpPr/>
          <p:nvPr/>
        </p:nvSpPr>
        <p:spPr>
          <a:xfrm>
            <a:off x="8549640" y="4864608"/>
            <a:ext cx="411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0" y="5074920"/>
            <a:ext cx="9144000" cy="68580"/>
          </a:xfrm>
          <a:prstGeom prst="rect">
            <a:avLst/>
          </a:prstGeom>
          <a:solidFill>
            <a:srgbClr val="E8520A"/>
          </a:solidFill>
          <a:ln/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MOAT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loan we make, makes the next loan smarter.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554480"/>
            <a:ext cx="251460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E8520A"/>
            </a:solidFill>
            <a:prstDash val="solid"/>
          </a:ln>
          <a:effectLst>
            <a:outerShdw sx="100000" sy="100000" kx="0" ky="0" algn="bl" rotWithShape="0" blurRad="127000" dist="38100" dir="5400000">
              <a:srgbClr val="94A3B8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664208"/>
            <a:ext cx="2240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Originate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640080" y="1975104"/>
            <a:ext cx="2240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FSA captures ambience, location, category — data no bureau sells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3200400" y="1554480"/>
            <a:ext cx="251460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0" dist="38100" dir="5400000">
              <a:srgbClr val="94A3B8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337560" y="1664208"/>
            <a:ext cx="2240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Observe daily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3337560" y="1975104"/>
            <a:ext cx="2240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365 repayment signals per loan per year vs 12 for monthly lenders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02920" y="3154680"/>
            <a:ext cx="251460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15803D"/>
            </a:solidFill>
            <a:prstDash val="solid"/>
          </a:ln>
          <a:effectLst>
            <a:outerShdw sx="100000" sy="100000" kx="0" ky="0" algn="bl" rotWithShape="0" blurRad="127000" dist="38100" dir="5400000">
              <a:srgbClr val="94A3B8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0080" y="3264408"/>
            <a:ext cx="2240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Underwrite sharper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640080" y="3575304"/>
            <a:ext cx="2240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approvals at same risk → lower NPA → cheaper debt capital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200400" y="3154680"/>
            <a:ext cx="251460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6D28D9"/>
            </a:solidFill>
            <a:prstDash val="solid"/>
          </a:ln>
          <a:effectLst>
            <a:outerShdw sx="100000" sy="100000" kx="0" ky="0" algn="bl" rotWithShape="0" blurRad="127000" dist="38100" dir="5400000">
              <a:srgbClr val="94A3B8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337560" y="3264408"/>
            <a:ext cx="2240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Label &amp; learn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3337560" y="3575304"/>
            <a:ext cx="2240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Outcomes feed rl_training_data — RL model already architected in production schema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2606040" y="26974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D6CC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↻</a:t>
            </a:r>
            <a:endParaRPr lang="en-US" sz="3000" dirty="0"/>
          </a:p>
        </p:txBody>
      </p:sp>
      <p:sp>
        <p:nvSpPr>
          <p:cNvPr id="17" name="Shape 15"/>
          <p:cNvSpPr/>
          <p:nvPr/>
        </p:nvSpPr>
        <p:spPr>
          <a:xfrm>
            <a:off x="6080760" y="1600200"/>
            <a:ext cx="0" cy="3063240"/>
          </a:xfrm>
          <a:prstGeom prst="line">
            <a:avLst/>
          </a:prstGeom>
          <a:noFill/>
          <a:ln w="12700">
            <a:solidFill>
              <a:srgbClr val="E7DCC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55080" y="1572768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30×</a:t>
            </a:r>
            <a:endParaRPr lang="en-US" sz="2300" dirty="0"/>
          </a:p>
        </p:txBody>
      </p:sp>
      <p:sp>
        <p:nvSpPr>
          <p:cNvPr id="19" name="Text 17"/>
          <p:cNvSpPr/>
          <p:nvPr/>
        </p:nvSpPr>
        <p:spPr>
          <a:xfrm>
            <a:off x="6355080" y="1975104"/>
            <a:ext cx="24231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repayment data per loan than any monthly lender — the raw fuel for the RL model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355080" y="2633472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</a:t>
            </a:r>
            <a:endParaRPr lang="en-US" sz="2300" dirty="0"/>
          </a:p>
        </p:txBody>
      </p:sp>
      <p:sp>
        <p:nvSpPr>
          <p:cNvPr id="21" name="Text 19"/>
          <p:cNvSpPr/>
          <p:nvPr/>
        </p:nvSpPr>
        <p:spPr>
          <a:xfrm>
            <a:off x="6355080" y="3035808"/>
            <a:ext cx="24231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datasets for outlet ambience, category margins, or footfall — ours is proprietary by construction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355080" y="3694176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2-sided</a:t>
            </a:r>
            <a:endParaRPr lang="en-US" sz="2300" dirty="0"/>
          </a:p>
        </p:txBody>
      </p:sp>
      <p:sp>
        <p:nvSpPr>
          <p:cNvPr id="23" name="Text 21"/>
          <p:cNvSpPr/>
          <p:nvPr/>
        </p:nvSpPr>
        <p:spPr>
          <a:xfrm>
            <a:off x="6355080" y="4096512"/>
            <a:ext cx="24231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lock-in: borrowers graduate to better terms; our model graduates to better selection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549640" y="4864608"/>
            <a:ext cx="411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0" y="5074920"/>
            <a:ext cx="9144000" cy="68580"/>
          </a:xfrm>
          <a:prstGeom prst="rect">
            <a:avLst/>
          </a:prstGeom>
          <a:solidFill>
            <a:srgbClr val="E8520A"/>
          </a:solidFill>
          <a:ln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MODEL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economics of a single loan.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133856"/>
            <a:ext cx="8321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Cycle-1 illustrative · Bucket C · ₹7L · 6 months · 19% p.a. + 2.5% PF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02920" y="1691640"/>
            <a:ext cx="4114800" cy="402336"/>
          </a:xfrm>
          <a:prstGeom prst="roundRect">
            <a:avLst>
              <a:gd name="adj" fmla="val 13636"/>
            </a:avLst>
          </a:prstGeom>
          <a:solidFill>
            <a:srgbClr val="F0FDF4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755648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Interest income (6 mo)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3337560" y="1755648"/>
            <a:ext cx="1143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₹66,500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2920" y="2167128"/>
            <a:ext cx="4114800" cy="402336"/>
          </a:xfrm>
          <a:prstGeom prst="roundRect">
            <a:avLst>
              <a:gd name="adj" fmla="val 13636"/>
            </a:avLst>
          </a:prstGeom>
          <a:solidFill>
            <a:srgbClr val="F0FDF4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2231136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Processing fee (2.5%)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3337560" y="2231136"/>
            <a:ext cx="1143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₹17,500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02920" y="2642616"/>
            <a:ext cx="4114800" cy="402336"/>
          </a:xfrm>
          <a:prstGeom prst="roundRect">
            <a:avLst>
              <a:gd name="adj" fmla="val 13636"/>
            </a:avLst>
          </a:prstGeom>
          <a:solidFill>
            <a:srgbClr val="FEF2F2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2706624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of debt capital (~10%)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337560" y="2706624"/>
            <a:ext cx="1143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 ₹35,000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02920" y="3118104"/>
            <a:ext cx="4114800" cy="402336"/>
          </a:xfrm>
          <a:prstGeom prst="roundRect">
            <a:avLst>
              <a:gd name="adj" fmla="val 13636"/>
            </a:avLst>
          </a:prstGeom>
          <a:solidFill>
            <a:srgbClr val="FEF2F2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318211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Opex + FSA + collections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3337560" y="3182112"/>
            <a:ext cx="1143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 ₹4,200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02920" y="3593592"/>
            <a:ext cx="4114800" cy="402336"/>
          </a:xfrm>
          <a:prstGeom prst="roundRect">
            <a:avLst>
              <a:gd name="adj" fmla="val 13636"/>
            </a:avLst>
          </a:prstGeom>
          <a:solidFill>
            <a:srgbClr val="FEF2F2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36576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credit loss (provision)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3337560" y="3657600"/>
            <a:ext cx="1143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 ₹3,500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02920" y="4160520"/>
            <a:ext cx="4114800" cy="502920"/>
          </a:xfrm>
          <a:prstGeom prst="roundRect">
            <a:avLst>
              <a:gd name="adj" fmla="val 14545"/>
            </a:avLst>
          </a:prstGeom>
          <a:solidFill>
            <a:srgbClr val="0F172A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4279392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contribution / loan / cycle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154680" y="4251960"/>
            <a:ext cx="1325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₹41,300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5029200" y="1645920"/>
            <a:ext cx="3657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borrower compounds: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029200" y="2057400"/>
            <a:ext cx="3749040" cy="731520"/>
          </a:xfrm>
          <a:prstGeom prst="roundRect">
            <a:avLst>
              <a:gd name="adj" fmla="val 10000"/>
            </a:avLst>
          </a:prstGeom>
          <a:solidFill>
            <a:srgbClr val="FFF4EC"/>
          </a:solidFill>
          <a:ln w="12700">
            <a:solidFill>
              <a:srgbClr val="E8520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193792" y="2148840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CYCLE 1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5193792" y="2368296"/>
            <a:ext cx="1600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₹7L cap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6812280" y="2203704"/>
            <a:ext cx="18288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months · prove-out · collateral by bucket</a:t>
            </a:r>
            <a:endParaRPr lang="en-US" sz="880" dirty="0"/>
          </a:p>
        </p:txBody>
      </p:sp>
      <p:sp>
        <p:nvSpPr>
          <p:cNvPr id="28" name="Shape 26"/>
          <p:cNvSpPr/>
          <p:nvPr/>
        </p:nvSpPr>
        <p:spPr>
          <a:xfrm>
            <a:off x="5029200" y="2926080"/>
            <a:ext cx="3749040" cy="731520"/>
          </a:xfrm>
          <a:prstGeom prst="roundRect">
            <a:avLst>
              <a:gd name="adj" fmla="val 10000"/>
            </a:avLst>
          </a:prstGeom>
          <a:solidFill>
            <a:srgbClr val="FFF4EC"/>
          </a:solidFill>
          <a:ln w="12700">
            <a:solidFill>
              <a:srgbClr val="E8520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193792" y="3017520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CYCLE 2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193792" y="3236976"/>
            <a:ext cx="1600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Uncapped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6812280" y="3072384"/>
            <a:ext cx="18288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 borrower · known daily-payment history</a:t>
            </a:r>
            <a:endParaRPr lang="en-US" sz="880" dirty="0"/>
          </a:p>
        </p:txBody>
      </p:sp>
      <p:sp>
        <p:nvSpPr>
          <p:cNvPr id="32" name="Shape 30"/>
          <p:cNvSpPr/>
          <p:nvPr/>
        </p:nvSpPr>
        <p:spPr>
          <a:xfrm>
            <a:off x="5029200" y="3794760"/>
            <a:ext cx="3749040" cy="731520"/>
          </a:xfrm>
          <a:prstGeom prst="roundRect">
            <a:avLst>
              <a:gd name="adj" fmla="val 10000"/>
            </a:avLst>
          </a:prstGeom>
          <a:solidFill>
            <a:srgbClr val="FFF4EC"/>
          </a:solidFill>
          <a:ln w="12700">
            <a:solidFill>
              <a:srgbClr val="E8520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193792" y="3886200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CYCLE 3+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5193792" y="4105656"/>
            <a:ext cx="1600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Uncapped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6812280" y="3941064"/>
            <a:ext cx="18288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months · rate discounts via clean record</a:t>
            </a:r>
            <a:endParaRPr lang="en-US" sz="880" dirty="0"/>
          </a:p>
        </p:txBody>
      </p:sp>
      <p:sp>
        <p:nvSpPr>
          <p:cNvPr id="36" name="Text 34"/>
          <p:cNvSpPr/>
          <p:nvPr/>
        </p:nvSpPr>
        <p:spPr>
          <a:xfrm>
            <a:off x="5029200" y="4700016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LTV compounds while CAC ≈ ₹0 on repeats — the FSA already knows the outlet.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8549640" y="4864608"/>
            <a:ext cx="411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0" y="5074920"/>
            <a:ext cx="9144000" cy="68580"/>
          </a:xfrm>
          <a:prstGeom prst="rect">
            <a:avLst/>
          </a:prstGeom>
          <a:solidFill>
            <a:srgbClr val="E8520A"/>
          </a:solidFill>
          <a:ln/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REGULATORY STRATEGY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roads to the licence. Both fully costed.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133856"/>
            <a:ext cx="8321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RBI mandates ₹10 Cr minimum Net Owned Fund either way (Sec 45-IA, RBI Act) — it anchors this raise.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02920" y="1691640"/>
            <a:ext cx="4069080" cy="288036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94A3B8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85800" y="1828800"/>
            <a:ext cx="868680" cy="292608"/>
          </a:xfrm>
          <a:prstGeom prst="roundRect">
            <a:avLst>
              <a:gd name="adj" fmla="val 18750"/>
            </a:avLst>
          </a:prstGeom>
          <a:solidFill>
            <a:srgbClr val="E8520A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828800"/>
            <a:ext cx="868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A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46120" y="1847088"/>
            <a:ext cx="1143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4–7 months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85800" y="2194560"/>
            <a:ext cx="37033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Acquire an existing NBFC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685800" y="2560320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80" b="1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pPr indent="0" marL="0">
              <a:lnSpc>
                <a:spcPts val="1050"/>
              </a:lnSpc>
              <a:buNone/>
            </a:pPr>
            <a:r>
              <a:rPr lang="en-US" sz="8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 a clean, dormant NBFC-ICC shell with valid CoR</a:t>
            </a:r>
            <a:endParaRPr lang="en-US" sz="880" dirty="0"/>
          </a:p>
        </p:txBody>
      </p:sp>
      <p:sp>
        <p:nvSpPr>
          <p:cNvPr id="11" name="Text 9"/>
          <p:cNvSpPr/>
          <p:nvPr/>
        </p:nvSpPr>
        <p:spPr>
          <a:xfrm>
            <a:off x="685800" y="2944368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80" b="1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pPr indent="0" marL="0">
              <a:lnSpc>
                <a:spcPts val="1050"/>
              </a:lnSpc>
              <a:buNone/>
            </a:pPr>
            <a:r>
              <a:rPr lang="en-US" sz="8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RBI prior approval — 26%+ stake / change of control + fit-&amp;-proper on directors</a:t>
            </a:r>
            <a:endParaRPr lang="en-US" sz="880" dirty="0"/>
          </a:p>
        </p:txBody>
      </p:sp>
      <p:sp>
        <p:nvSpPr>
          <p:cNvPr id="12" name="Text 10"/>
          <p:cNvSpPr/>
          <p:nvPr/>
        </p:nvSpPr>
        <p:spPr>
          <a:xfrm>
            <a:off x="685800" y="3328416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80" b="1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pPr indent="0" marL="0">
              <a:lnSpc>
                <a:spcPts val="1050"/>
              </a:lnSpc>
              <a:buNone/>
            </a:pPr>
            <a:r>
              <a:rPr lang="en-US" sz="8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30-day public notice, then capital infusion to ₹10 Cr+ NOF</a:t>
            </a:r>
            <a:endParaRPr lang="en-US" sz="880" dirty="0"/>
          </a:p>
        </p:txBody>
      </p:sp>
      <p:sp>
        <p:nvSpPr>
          <p:cNvPr id="13" name="Text 11"/>
          <p:cNvSpPr/>
          <p:nvPr/>
        </p:nvSpPr>
        <p:spPr>
          <a:xfrm>
            <a:off x="685800" y="3712464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80" b="1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pPr indent="0" marL="0">
              <a:lnSpc>
                <a:spcPts val="1050"/>
              </a:lnSpc>
              <a:buNone/>
            </a:pPr>
            <a:r>
              <a:rPr lang="en-US" sz="8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 over book: ₹50L–1.5Cr depending on vintage &amp; cleanliness</a:t>
            </a:r>
            <a:endParaRPr lang="en-US" sz="880" dirty="0"/>
          </a:p>
        </p:txBody>
      </p:sp>
      <p:sp>
        <p:nvSpPr>
          <p:cNvPr id="14" name="Shape 12"/>
          <p:cNvSpPr/>
          <p:nvPr/>
        </p:nvSpPr>
        <p:spPr>
          <a:xfrm>
            <a:off x="685800" y="4169664"/>
            <a:ext cx="3703320" cy="292608"/>
          </a:xfrm>
          <a:prstGeom prst="roundRect">
            <a:avLst>
              <a:gd name="adj" fmla="val 15625"/>
            </a:avLst>
          </a:prstGeom>
          <a:solidFill>
            <a:srgbClr val="FFF4EC"/>
          </a:solidFill>
          <a:ln/>
        </p:spPr>
      </p:sp>
      <p:sp>
        <p:nvSpPr>
          <p:cNvPr id="15" name="Text 13"/>
          <p:cNvSpPr/>
          <p:nvPr/>
        </p:nvSpPr>
        <p:spPr>
          <a:xfrm>
            <a:off x="795528" y="4206240"/>
            <a:ext cx="3566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Faster to first disbursal · existing CoR</a:t>
            </a:r>
            <a:endParaRPr lang="en-US" sz="880" dirty="0"/>
          </a:p>
        </p:txBody>
      </p:sp>
      <p:sp>
        <p:nvSpPr>
          <p:cNvPr id="16" name="Shape 14"/>
          <p:cNvSpPr/>
          <p:nvPr/>
        </p:nvSpPr>
        <p:spPr>
          <a:xfrm>
            <a:off x="4754880" y="1691640"/>
            <a:ext cx="4069080" cy="288036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94A3B8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937760" y="1828800"/>
            <a:ext cx="868680" cy="292608"/>
          </a:xfrm>
          <a:prstGeom prst="roundRect">
            <a:avLst>
              <a:gd name="adj" fmla="val 18750"/>
            </a:avLst>
          </a:prstGeom>
          <a:solidFill>
            <a:srgbClr val="0F766E"/>
          </a:solidFill>
          <a:ln/>
        </p:spPr>
      </p:sp>
      <p:sp>
        <p:nvSpPr>
          <p:cNvPr id="18" name="Text 16"/>
          <p:cNvSpPr/>
          <p:nvPr/>
        </p:nvSpPr>
        <p:spPr>
          <a:xfrm>
            <a:off x="4937760" y="1828800"/>
            <a:ext cx="868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B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498080" y="1847088"/>
            <a:ext cx="1143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9–15 months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937760" y="2194560"/>
            <a:ext cx="37033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for a fresh licence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4937760" y="2560320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8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pPr indent="0" marL="0">
              <a:lnSpc>
                <a:spcPts val="1050"/>
              </a:lnSpc>
              <a:buNone/>
            </a:pPr>
            <a:r>
              <a:rPr lang="en-US" sz="8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Incorporate, capitalise ₹10 Cr NOF as liquid funds ab initio</a:t>
            </a:r>
            <a:endParaRPr lang="en-US" sz="880" dirty="0"/>
          </a:p>
        </p:txBody>
      </p:sp>
      <p:sp>
        <p:nvSpPr>
          <p:cNvPr id="22" name="Text 20"/>
          <p:cNvSpPr/>
          <p:nvPr/>
        </p:nvSpPr>
        <p:spPr>
          <a:xfrm>
            <a:off x="4937760" y="2944368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8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pPr indent="0" marL="0">
              <a:lnSpc>
                <a:spcPts val="1050"/>
              </a:lnSpc>
              <a:buNone/>
            </a:pPr>
            <a:r>
              <a:rPr lang="en-US" sz="8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COSMOS application — business plan, 5-yr projections, fit-&amp;-proper</a:t>
            </a:r>
            <a:endParaRPr lang="en-US" sz="880" dirty="0"/>
          </a:p>
        </p:txBody>
      </p:sp>
      <p:sp>
        <p:nvSpPr>
          <p:cNvPr id="23" name="Text 21"/>
          <p:cNvSpPr/>
          <p:nvPr/>
        </p:nvSpPr>
        <p:spPr>
          <a:xfrm>
            <a:off x="4937760" y="3328416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8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pPr indent="0" marL="0">
              <a:lnSpc>
                <a:spcPts val="1050"/>
              </a:lnSpc>
              <a:buNone/>
            </a:pPr>
            <a:r>
              <a:rPr lang="en-US" sz="8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diligence trail — no legacy book, no inherited risk</a:t>
            </a:r>
            <a:endParaRPr lang="en-US" sz="880" dirty="0"/>
          </a:p>
        </p:txBody>
      </p:sp>
      <p:sp>
        <p:nvSpPr>
          <p:cNvPr id="24" name="Text 22"/>
          <p:cNvSpPr/>
          <p:nvPr/>
        </p:nvSpPr>
        <p:spPr>
          <a:xfrm>
            <a:off x="4937760" y="3712464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8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pPr indent="0" marL="0">
              <a:lnSpc>
                <a:spcPts val="1050"/>
              </a:lnSpc>
              <a:buNone/>
            </a:pPr>
            <a:r>
              <a:rPr lang="en-US" sz="8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policy stack (credit + collections) is already application-grade</a:t>
            </a:r>
            <a:endParaRPr lang="en-US" sz="880" dirty="0"/>
          </a:p>
        </p:txBody>
      </p:sp>
      <p:sp>
        <p:nvSpPr>
          <p:cNvPr id="25" name="Shape 23"/>
          <p:cNvSpPr/>
          <p:nvPr/>
        </p:nvSpPr>
        <p:spPr>
          <a:xfrm>
            <a:off x="4937760" y="4169664"/>
            <a:ext cx="3703320" cy="292608"/>
          </a:xfrm>
          <a:prstGeom prst="roundRect">
            <a:avLst>
              <a:gd name="adj" fmla="val 15625"/>
            </a:avLst>
          </a:prstGeom>
          <a:solidFill>
            <a:srgbClr val="F0FDFA"/>
          </a:solidFill>
          <a:ln/>
        </p:spPr>
      </p:sp>
      <p:sp>
        <p:nvSpPr>
          <p:cNvPr id="26" name="Text 24"/>
          <p:cNvSpPr/>
          <p:nvPr/>
        </p:nvSpPr>
        <p:spPr>
          <a:xfrm>
            <a:off x="5047488" y="4206240"/>
            <a:ext cx="3566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Zero legacy risk · cleanest cap table</a:t>
            </a:r>
            <a:endParaRPr lang="en-US" sz="880" dirty="0"/>
          </a:p>
        </p:txBody>
      </p:sp>
      <p:sp>
        <p:nvSpPr>
          <p:cNvPr id="27" name="Shape 25"/>
          <p:cNvSpPr/>
          <p:nvPr/>
        </p:nvSpPr>
        <p:spPr>
          <a:xfrm>
            <a:off x="502920" y="4681728"/>
            <a:ext cx="8229600" cy="310896"/>
          </a:xfrm>
          <a:prstGeom prst="roundRect">
            <a:avLst>
              <a:gd name="adj" fmla="val 17647"/>
            </a:avLst>
          </a:prstGeom>
          <a:solidFill>
            <a:srgbClr val="FEF3C7"/>
          </a:solidFill>
          <a:ln/>
        </p:spPr>
      </p:sp>
      <p:sp>
        <p:nvSpPr>
          <p:cNvPr id="28" name="Text 26"/>
          <p:cNvSpPr/>
          <p:nvPr/>
        </p:nvSpPr>
        <p:spPr>
          <a:xfrm>
            <a:off x="658368" y="4727448"/>
            <a:ext cx="7955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pursue Path A as primary with Path B filed in parallel — the ₹10 Cr NOF is identical and ring-fenced in this raise either way.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8549640" y="4864608"/>
            <a:ext cx="411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0" y="5074920"/>
            <a:ext cx="9144000" cy="68580"/>
          </a:xfrm>
          <a:prstGeom prst="rect">
            <a:avLst/>
          </a:prstGeom>
          <a:solidFill>
            <a:srgbClr val="E8520A"/>
          </a:solidFill>
          <a:ln/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₹50 Cr — regulation-anchored, loan-deployed.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371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Lending corpus (on-book AUM seed)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502920" y="1627632"/>
            <a:ext cx="4160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~5,000 loans · Bengaluru → 4 cities · proves the book for debt lines &amp; co-lending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4800600" y="1426464"/>
            <a:ext cx="2743200" cy="310896"/>
          </a:xfrm>
          <a:prstGeom prst="roundRect">
            <a:avLst>
              <a:gd name="adj" fmla="val 14706"/>
            </a:avLst>
          </a:prstGeom>
          <a:solidFill>
            <a:srgbClr val="F1F5F9"/>
          </a:solidFill>
          <a:ln/>
        </p:spPr>
      </p:sp>
      <p:sp>
        <p:nvSpPr>
          <p:cNvPr id="7" name="Shape 5"/>
          <p:cNvSpPr/>
          <p:nvPr/>
        </p:nvSpPr>
        <p:spPr>
          <a:xfrm>
            <a:off x="4800600" y="1426464"/>
            <a:ext cx="2743200" cy="310896"/>
          </a:xfrm>
          <a:prstGeom prst="roundRect">
            <a:avLst>
              <a:gd name="adj" fmla="val 14706"/>
            </a:avLst>
          </a:prstGeom>
          <a:solidFill>
            <a:srgbClr val="E8520A"/>
          </a:solidFill>
          <a:ln/>
        </p:spPr>
      </p:sp>
      <p:sp>
        <p:nvSpPr>
          <p:cNvPr id="8" name="Text 6"/>
          <p:cNvSpPr/>
          <p:nvPr/>
        </p:nvSpPr>
        <p:spPr>
          <a:xfrm>
            <a:off x="7589520" y="1426464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52%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882128" y="1444752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₹14 Cr–₹28 Cr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502920" y="202996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NBFC NOF + licence/acquisition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502920" y="2286000"/>
            <a:ext cx="4160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RBI-mandated ₹10 Cr liquid NOF + shell premium / application costs — ring-fenced, not burn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4800600" y="2084832"/>
            <a:ext cx="2743200" cy="310896"/>
          </a:xfrm>
          <a:prstGeom prst="roundRect">
            <a:avLst>
              <a:gd name="adj" fmla="val 14706"/>
            </a:avLst>
          </a:prstGeom>
          <a:solidFill>
            <a:srgbClr val="F1F5F9"/>
          </a:solidFill>
          <a:ln/>
        </p:spPr>
      </p:sp>
      <p:sp>
        <p:nvSpPr>
          <p:cNvPr id="13" name="Shape 11"/>
          <p:cNvSpPr/>
          <p:nvPr/>
        </p:nvSpPr>
        <p:spPr>
          <a:xfrm>
            <a:off x="4800600" y="2084832"/>
            <a:ext cx="1424354" cy="310896"/>
          </a:xfrm>
          <a:prstGeom prst="roundRect">
            <a:avLst>
              <a:gd name="adj" fmla="val 14706"/>
            </a:avLst>
          </a:prstGeom>
          <a:solidFill>
            <a:srgbClr val="0F766E"/>
          </a:solidFill>
          <a:ln/>
        </p:spPr>
      </p:sp>
      <p:sp>
        <p:nvSpPr>
          <p:cNvPr id="14" name="Text 12"/>
          <p:cNvSpPr/>
          <p:nvPr/>
        </p:nvSpPr>
        <p:spPr>
          <a:xfrm>
            <a:off x="7589520" y="208483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27%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882128" y="210312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₹10 Cr–₹12 Cr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502920" y="2688336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&amp; AI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502920" y="2944368"/>
            <a:ext cx="4160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FSA mobile app, RL model build-out, bank-statement APIs (Perfios), LMS hardening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4800600" y="2743200"/>
            <a:ext cx="2743200" cy="310896"/>
          </a:xfrm>
          <a:prstGeom prst="roundRect">
            <a:avLst>
              <a:gd name="adj" fmla="val 14706"/>
            </a:avLst>
          </a:prstGeom>
          <a:solidFill>
            <a:srgbClr val="F1F5F9"/>
          </a:solidFill>
          <a:ln/>
        </p:spPr>
      </p:sp>
      <p:sp>
        <p:nvSpPr>
          <p:cNvPr id="19" name="Shape 17"/>
          <p:cNvSpPr/>
          <p:nvPr/>
        </p:nvSpPr>
        <p:spPr>
          <a:xfrm>
            <a:off x="4800600" y="2743200"/>
            <a:ext cx="422031" cy="310896"/>
          </a:xfrm>
          <a:prstGeom prst="roundRect">
            <a:avLst>
              <a:gd name="adj" fmla="val 14706"/>
            </a:avLst>
          </a:prstGeom>
          <a:solidFill>
            <a:srgbClr val="6D28D9"/>
          </a:solidFill>
          <a:ln/>
        </p:spPr>
      </p:sp>
      <p:sp>
        <p:nvSpPr>
          <p:cNvPr id="20" name="Text 18"/>
          <p:cNvSpPr/>
          <p:nvPr/>
        </p:nvSpPr>
        <p:spPr>
          <a:xfrm>
            <a:off x="7589520" y="2743200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8%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882128" y="2761488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₹2.5 Cr–₹4 Cr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02920" y="3346704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ops &amp; distribution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02920" y="3602736"/>
            <a:ext cx="4160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FSA network in 4 cities, distributor partnerships, collections infrastructure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4800600" y="3401568"/>
            <a:ext cx="2743200" cy="310896"/>
          </a:xfrm>
          <a:prstGeom prst="roundRect">
            <a:avLst>
              <a:gd name="adj" fmla="val 14706"/>
            </a:avLst>
          </a:prstGeom>
          <a:solidFill>
            <a:srgbClr val="F1F5F9"/>
          </a:solidFill>
          <a:ln/>
        </p:spPr>
      </p:sp>
      <p:sp>
        <p:nvSpPr>
          <p:cNvPr id="25" name="Shape 23"/>
          <p:cNvSpPr/>
          <p:nvPr/>
        </p:nvSpPr>
        <p:spPr>
          <a:xfrm>
            <a:off x="4800600" y="3401568"/>
            <a:ext cx="369277" cy="310896"/>
          </a:xfrm>
          <a:prstGeom prst="roundRect">
            <a:avLst>
              <a:gd name="adj" fmla="val 14706"/>
            </a:avLst>
          </a:prstGeom>
          <a:solidFill>
            <a:srgbClr val="B45309"/>
          </a:solidFill>
          <a:ln/>
        </p:spPr>
      </p:sp>
      <p:sp>
        <p:nvSpPr>
          <p:cNvPr id="26" name="Text 24"/>
          <p:cNvSpPr/>
          <p:nvPr/>
        </p:nvSpPr>
        <p:spPr>
          <a:xfrm>
            <a:off x="7589520" y="3401568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7%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7882128" y="3419856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 Cr–₹3.5 Cr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502920" y="400507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Team, compliance &amp; buffer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502920" y="4261104"/>
            <a:ext cx="4160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head, compliance officer, ops core + 12-month regulatory runway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4800600" y="4059936"/>
            <a:ext cx="2743200" cy="310896"/>
          </a:xfrm>
          <a:prstGeom prst="roundRect">
            <a:avLst>
              <a:gd name="adj" fmla="val 14706"/>
            </a:avLst>
          </a:prstGeom>
          <a:solidFill>
            <a:srgbClr val="F1F5F9"/>
          </a:solidFill>
          <a:ln/>
        </p:spPr>
      </p:sp>
      <p:sp>
        <p:nvSpPr>
          <p:cNvPr id="31" name="Shape 29"/>
          <p:cNvSpPr/>
          <p:nvPr/>
        </p:nvSpPr>
        <p:spPr>
          <a:xfrm>
            <a:off x="4800600" y="4059936"/>
            <a:ext cx="316523" cy="310896"/>
          </a:xfrm>
          <a:prstGeom prst="roundRect">
            <a:avLst>
              <a:gd name="adj" fmla="val 14706"/>
            </a:avLst>
          </a:prstGeom>
          <a:solidFill>
            <a:srgbClr val="94A3B8"/>
          </a:solidFill>
          <a:ln/>
        </p:spPr>
      </p:sp>
      <p:sp>
        <p:nvSpPr>
          <p:cNvPr id="32" name="Text 30"/>
          <p:cNvSpPr/>
          <p:nvPr/>
        </p:nvSpPr>
        <p:spPr>
          <a:xfrm>
            <a:off x="7589520" y="4059936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6%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7882128" y="4078224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₹1.5 Cr–₹2.5 Cr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502920" y="4681728"/>
            <a:ext cx="8229600" cy="329184"/>
          </a:xfrm>
          <a:prstGeom prst="roundRect">
            <a:avLst>
              <a:gd name="adj" fmla="val 16667"/>
            </a:avLst>
          </a:prstGeom>
          <a:solidFill>
            <a:srgbClr val="F0FDF4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8368" y="4736592"/>
            <a:ext cx="7955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80% of the raise sits in regulated capital + loan book — recoverable assets, not operating burn.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8549640" y="4864608"/>
            <a:ext cx="411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0" y="5074920"/>
            <a:ext cx="9144000" cy="68580"/>
          </a:xfrm>
          <a:prstGeom prst="rect">
            <a:avLst/>
          </a:prstGeom>
          <a:solidFill>
            <a:srgbClr val="E8520A"/>
          </a:solidFill>
          <a:ln/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 PLAN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licence to ₹150 Cr AUM in 24 months.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2011680" cy="306324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CBD5E1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463040"/>
            <a:ext cx="2011680" cy="91440"/>
          </a:xfrm>
          <a:prstGeom prst="rect">
            <a:avLst/>
          </a:prstGeom>
          <a:solidFill>
            <a:srgbClr val="E8520A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645920"/>
            <a:ext cx="1737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M0–6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40080" y="1883664"/>
            <a:ext cx="1783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Licence &amp; pilot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40080" y="2286000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60" b="1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pPr indent="0" marL="0">
              <a:lnSpc>
                <a:spcPts val="1050"/>
              </a:lnSpc>
              <a:buNone/>
            </a:pPr>
            <a:r>
              <a:rPr lang="en-US" sz="86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NBFC acquisition / application filed</a:t>
            </a:r>
            <a:endParaRPr lang="en-US" sz="860" dirty="0"/>
          </a:p>
        </p:txBody>
      </p:sp>
      <p:sp>
        <p:nvSpPr>
          <p:cNvPr id="9" name="Text 7"/>
          <p:cNvSpPr/>
          <p:nvPr/>
        </p:nvSpPr>
        <p:spPr>
          <a:xfrm>
            <a:off x="640080" y="2852928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60" b="1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pPr indent="0" marL="0">
              <a:lnSpc>
                <a:spcPts val="1050"/>
              </a:lnSpc>
              <a:buNone/>
            </a:pPr>
            <a:r>
              <a:rPr lang="en-US" sz="86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Bengaluru pilot: 200 loans, ₹6 Cr</a:t>
            </a:r>
            <a:endParaRPr lang="en-US" sz="860" dirty="0"/>
          </a:p>
        </p:txBody>
      </p:sp>
      <p:sp>
        <p:nvSpPr>
          <p:cNvPr id="10" name="Text 8"/>
          <p:cNvSpPr/>
          <p:nvPr/>
        </p:nvSpPr>
        <p:spPr>
          <a:xfrm>
            <a:off x="640080" y="3419856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60" b="1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pPr indent="0" marL="0">
              <a:lnSpc>
                <a:spcPts val="1050"/>
              </a:lnSpc>
              <a:buNone/>
            </a:pPr>
            <a:r>
              <a:rPr lang="en-US" sz="86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FSA app live · RL data accumulating</a:t>
            </a:r>
            <a:endParaRPr lang="en-US" sz="860" dirty="0"/>
          </a:p>
        </p:txBody>
      </p:sp>
      <p:sp>
        <p:nvSpPr>
          <p:cNvPr id="11" name="Shape 9"/>
          <p:cNvSpPr/>
          <p:nvPr/>
        </p:nvSpPr>
        <p:spPr>
          <a:xfrm>
            <a:off x="640080" y="4096512"/>
            <a:ext cx="1737360" cy="310896"/>
          </a:xfrm>
          <a:prstGeom prst="roundRect">
            <a:avLst>
              <a:gd name="adj" fmla="val 14706"/>
            </a:avLst>
          </a:prstGeom>
          <a:solidFill>
            <a:srgbClr val="F8FAFC"/>
          </a:solidFill>
          <a:ln w="9525">
            <a:solidFill>
              <a:srgbClr val="E8520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4142232"/>
            <a:ext cx="166420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NPA &lt; 2.5%</a:t>
            </a:r>
            <a:endParaRPr lang="en-US" sz="820" dirty="0"/>
          </a:p>
        </p:txBody>
      </p:sp>
      <p:sp>
        <p:nvSpPr>
          <p:cNvPr id="13" name="Shape 11"/>
          <p:cNvSpPr/>
          <p:nvPr/>
        </p:nvSpPr>
        <p:spPr>
          <a:xfrm>
            <a:off x="2660904" y="1463040"/>
            <a:ext cx="2011680" cy="306324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CBD5E1">
                <a:alpha val="2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660904" y="1463040"/>
            <a:ext cx="2011680" cy="91440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15" name="Text 13"/>
          <p:cNvSpPr/>
          <p:nvPr/>
        </p:nvSpPr>
        <p:spPr>
          <a:xfrm>
            <a:off x="2798064" y="1645920"/>
            <a:ext cx="1737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M7–12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798064" y="1883664"/>
            <a:ext cx="1783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 the book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2798064" y="2286000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6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pPr indent="0" marL="0">
              <a:lnSpc>
                <a:spcPts val="1050"/>
              </a:lnSpc>
              <a:buNone/>
            </a:pPr>
            <a:r>
              <a:rPr lang="en-US" sz="86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cities: BLR, HYD, CHN, PUN</a:t>
            </a:r>
            <a:endParaRPr lang="en-US" sz="860" dirty="0"/>
          </a:p>
        </p:txBody>
      </p:sp>
      <p:sp>
        <p:nvSpPr>
          <p:cNvPr id="18" name="Text 16"/>
          <p:cNvSpPr/>
          <p:nvPr/>
        </p:nvSpPr>
        <p:spPr>
          <a:xfrm>
            <a:off x="2798064" y="2852928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6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pPr indent="0" marL="0">
              <a:lnSpc>
                <a:spcPts val="1050"/>
              </a:lnSpc>
              <a:buNone/>
            </a:pPr>
            <a:r>
              <a:rPr lang="en-US" sz="86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2,500 loans · ₹35 Cr AUM</a:t>
            </a:r>
            <a:endParaRPr lang="en-US" sz="860" dirty="0"/>
          </a:p>
        </p:txBody>
      </p:sp>
      <p:sp>
        <p:nvSpPr>
          <p:cNvPr id="19" name="Text 17"/>
          <p:cNvSpPr/>
          <p:nvPr/>
        </p:nvSpPr>
        <p:spPr>
          <a:xfrm>
            <a:off x="2798064" y="3419856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6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pPr indent="0" marL="0">
              <a:lnSpc>
                <a:spcPts val="1050"/>
              </a:lnSpc>
              <a:buNone/>
            </a:pPr>
            <a:r>
              <a:rPr lang="en-US" sz="86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debt line / co-lending signed</a:t>
            </a:r>
            <a:endParaRPr lang="en-US" sz="860" dirty="0"/>
          </a:p>
        </p:txBody>
      </p:sp>
      <p:sp>
        <p:nvSpPr>
          <p:cNvPr id="20" name="Shape 18"/>
          <p:cNvSpPr/>
          <p:nvPr/>
        </p:nvSpPr>
        <p:spPr>
          <a:xfrm>
            <a:off x="2798064" y="4096512"/>
            <a:ext cx="1737360" cy="310896"/>
          </a:xfrm>
          <a:prstGeom prst="roundRect">
            <a:avLst>
              <a:gd name="adj" fmla="val 14706"/>
            </a:avLst>
          </a:prstGeom>
          <a:solidFill>
            <a:srgbClr val="F8FAFC"/>
          </a:solidFill>
          <a:ln w="9525">
            <a:solidFill>
              <a:srgbClr val="B4530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843784" y="4142232"/>
            <a:ext cx="166420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NPA &lt; 2% · 60% repeat</a:t>
            </a:r>
            <a:endParaRPr lang="en-US" sz="820" dirty="0"/>
          </a:p>
        </p:txBody>
      </p:sp>
      <p:sp>
        <p:nvSpPr>
          <p:cNvPr id="22" name="Shape 20"/>
          <p:cNvSpPr/>
          <p:nvPr/>
        </p:nvSpPr>
        <p:spPr>
          <a:xfrm>
            <a:off x="4818888" y="1463040"/>
            <a:ext cx="2011680" cy="306324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CBD5E1">
                <a:alpha val="25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818888" y="1463040"/>
            <a:ext cx="2011680" cy="9144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24" name="Text 22"/>
          <p:cNvSpPr/>
          <p:nvPr/>
        </p:nvSpPr>
        <p:spPr>
          <a:xfrm>
            <a:off x="4956048" y="1645920"/>
            <a:ext cx="1737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M13–18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956048" y="1883664"/>
            <a:ext cx="1783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with leverage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4956048" y="2286000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6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pPr indent="0" marL="0">
              <a:lnSpc>
                <a:spcPts val="1050"/>
              </a:lnSpc>
              <a:buNone/>
            </a:pPr>
            <a:r>
              <a:rPr lang="en-US" sz="86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RL model live in underwriting</a:t>
            </a:r>
            <a:endParaRPr lang="en-US" sz="860" dirty="0"/>
          </a:p>
        </p:txBody>
      </p:sp>
      <p:sp>
        <p:nvSpPr>
          <p:cNvPr id="27" name="Text 25"/>
          <p:cNvSpPr/>
          <p:nvPr/>
        </p:nvSpPr>
        <p:spPr>
          <a:xfrm>
            <a:off x="4956048" y="2852928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6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pPr indent="0" marL="0">
              <a:lnSpc>
                <a:spcPts val="1050"/>
              </a:lnSpc>
              <a:buNone/>
            </a:pPr>
            <a:r>
              <a:rPr lang="en-US" sz="86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cities · distributor channel at 30% of originations</a:t>
            </a:r>
            <a:endParaRPr lang="en-US" sz="860" dirty="0"/>
          </a:p>
        </p:txBody>
      </p:sp>
      <p:sp>
        <p:nvSpPr>
          <p:cNvPr id="28" name="Text 26"/>
          <p:cNvSpPr/>
          <p:nvPr/>
        </p:nvSpPr>
        <p:spPr>
          <a:xfrm>
            <a:off x="4956048" y="3419856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6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pPr indent="0" marL="0">
              <a:lnSpc>
                <a:spcPts val="1050"/>
              </a:lnSpc>
              <a:buNone/>
            </a:pPr>
            <a:r>
              <a:rPr lang="en-US" sz="86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₹80 Cr AUM on 2× leverage</a:t>
            </a:r>
            <a:endParaRPr lang="en-US" sz="860" dirty="0"/>
          </a:p>
        </p:txBody>
      </p:sp>
      <p:sp>
        <p:nvSpPr>
          <p:cNvPr id="29" name="Shape 27"/>
          <p:cNvSpPr/>
          <p:nvPr/>
        </p:nvSpPr>
        <p:spPr>
          <a:xfrm>
            <a:off x="4956048" y="4096512"/>
            <a:ext cx="1737360" cy="310896"/>
          </a:xfrm>
          <a:prstGeom prst="roundRect">
            <a:avLst>
              <a:gd name="adj" fmla="val 14706"/>
            </a:avLst>
          </a:prstGeom>
          <a:solidFill>
            <a:srgbClr val="F8FAFC"/>
          </a:solidFill>
          <a:ln w="9525">
            <a:solidFill>
              <a:srgbClr val="0F766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001768" y="4142232"/>
            <a:ext cx="166420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Opex/AUM &lt; 4%</a:t>
            </a:r>
            <a:endParaRPr lang="en-US" sz="820" dirty="0"/>
          </a:p>
        </p:txBody>
      </p:sp>
      <p:sp>
        <p:nvSpPr>
          <p:cNvPr id="31" name="Shape 29"/>
          <p:cNvSpPr/>
          <p:nvPr/>
        </p:nvSpPr>
        <p:spPr>
          <a:xfrm>
            <a:off x="6976872" y="1463040"/>
            <a:ext cx="2011680" cy="306324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CBD5E1">
                <a:alpha val="25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976872" y="1463040"/>
            <a:ext cx="2011680" cy="91440"/>
          </a:xfrm>
          <a:prstGeom prst="rect">
            <a:avLst/>
          </a:prstGeom>
          <a:solidFill>
            <a:srgbClr val="15803D"/>
          </a:solidFill>
          <a:ln/>
        </p:spPr>
      </p:sp>
      <p:sp>
        <p:nvSpPr>
          <p:cNvPr id="33" name="Text 31"/>
          <p:cNvSpPr/>
          <p:nvPr/>
        </p:nvSpPr>
        <p:spPr>
          <a:xfrm>
            <a:off x="7114032" y="1645920"/>
            <a:ext cx="1737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M19–24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7114032" y="1883664"/>
            <a:ext cx="1783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Series A position</a:t>
            </a:r>
            <a:endParaRPr lang="en-US" sz="1350" dirty="0"/>
          </a:p>
        </p:txBody>
      </p:sp>
      <p:sp>
        <p:nvSpPr>
          <p:cNvPr id="35" name="Text 33"/>
          <p:cNvSpPr/>
          <p:nvPr/>
        </p:nvSpPr>
        <p:spPr>
          <a:xfrm>
            <a:off x="7114032" y="2286000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6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pPr indent="0" marL="0">
              <a:lnSpc>
                <a:spcPts val="1050"/>
              </a:lnSpc>
              <a:buNone/>
            </a:pPr>
            <a:r>
              <a:rPr lang="en-US" sz="86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₹150 Cr AUM · 12,000+ active loans</a:t>
            </a:r>
            <a:endParaRPr lang="en-US" sz="860" dirty="0"/>
          </a:p>
        </p:txBody>
      </p:sp>
      <p:sp>
        <p:nvSpPr>
          <p:cNvPr id="36" name="Text 34"/>
          <p:cNvSpPr/>
          <p:nvPr/>
        </p:nvSpPr>
        <p:spPr>
          <a:xfrm>
            <a:off x="7114032" y="2852928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6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pPr indent="0" marL="0">
              <a:lnSpc>
                <a:spcPts val="1050"/>
              </a:lnSpc>
              <a:buNone/>
            </a:pPr>
            <a:r>
              <a:rPr lang="en-US" sz="86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AI-scored share &gt; 85% of book</a:t>
            </a:r>
            <a:endParaRPr lang="en-US" sz="860" dirty="0"/>
          </a:p>
        </p:txBody>
      </p:sp>
      <p:sp>
        <p:nvSpPr>
          <p:cNvPr id="37" name="Text 35"/>
          <p:cNvSpPr/>
          <p:nvPr/>
        </p:nvSpPr>
        <p:spPr>
          <a:xfrm>
            <a:off x="7114032" y="3419856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6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pPr indent="0" marL="0">
              <a:lnSpc>
                <a:spcPts val="1050"/>
              </a:lnSpc>
              <a:buNone/>
            </a:pPr>
            <a:r>
              <a:rPr lang="en-US" sz="86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Co-lending with 2 banks/NBFCs</a:t>
            </a:r>
            <a:endParaRPr lang="en-US" sz="860" dirty="0"/>
          </a:p>
        </p:txBody>
      </p:sp>
      <p:sp>
        <p:nvSpPr>
          <p:cNvPr id="38" name="Shape 36"/>
          <p:cNvSpPr/>
          <p:nvPr/>
        </p:nvSpPr>
        <p:spPr>
          <a:xfrm>
            <a:off x="7114032" y="4096512"/>
            <a:ext cx="1737360" cy="310896"/>
          </a:xfrm>
          <a:prstGeom prst="roundRect">
            <a:avLst>
              <a:gd name="adj" fmla="val 14706"/>
            </a:avLst>
          </a:prstGeom>
          <a:solidFill>
            <a:srgbClr val="F8FAFC"/>
          </a:solidFill>
          <a:ln w="9525">
            <a:solidFill>
              <a:srgbClr val="15803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159752" y="4142232"/>
            <a:ext cx="166420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to profitability visible</a:t>
            </a:r>
            <a:endParaRPr lang="en-US" sz="820" dirty="0"/>
          </a:p>
        </p:txBody>
      </p:sp>
      <p:sp>
        <p:nvSpPr>
          <p:cNvPr id="40" name="Text 38"/>
          <p:cNvSpPr/>
          <p:nvPr/>
        </p:nvSpPr>
        <p:spPr>
          <a:xfrm>
            <a:off x="502920" y="464515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Benchmark: Bajaj Finance disbursed ₹1,600 Cr in one quarter via AI scoring (~10% of its loans). Our 24-month exit target is 85% AI-scored — born-AI, not retrofitted.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8549640" y="4864608"/>
            <a:ext cx="411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0" y="5074920"/>
            <a:ext cx="9144000" cy="68580"/>
          </a:xfrm>
          <a:prstGeom prst="rect">
            <a:avLst/>
          </a:prstGeom>
          <a:solidFill>
            <a:srgbClr val="E8520A"/>
          </a:solidFill>
          <a:ln/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8072"/>
          </a:xfrm>
          <a:prstGeom prst="rect">
            <a:avLst/>
          </a:prstGeom>
          <a:solidFill>
            <a:srgbClr val="E8520A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RASOI CAPITAL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8046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kitchen always pays.
</a:t>
            </a:r>
            <a:pPr indent="0" marL="0">
              <a:lnSpc>
                <a:spcPts val="4200"/>
              </a:lnSpc>
              <a:buNone/>
            </a:pPr>
            <a:r>
              <a:rPr lang="en-US" sz="3400" b="1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someone finally lends to it.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235000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60120" y="233172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product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960120" y="2587752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AI underwriting + full lending stack — demo in your hands today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4754880" y="235000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074920" y="233172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Regulatory clarity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074920" y="2587752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₹10 Cr NOF priced in · both licence paths costed · policies board-ready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321868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960120" y="320040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Unfair data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960120" y="3456432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Daily-EMI = 30× repayment signal density — the RL moat compounds from loan #1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754880" y="321868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5074920" y="320040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Asset-backed raise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074920" y="3456432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~80% of funds become NOF + loan book, not burn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40080" y="4160520"/>
            <a:ext cx="7863840" cy="566928"/>
          </a:xfrm>
          <a:prstGeom prst="roundRect">
            <a:avLst>
              <a:gd name="adj" fmla="val 16129"/>
            </a:avLst>
          </a:prstGeom>
          <a:solidFill>
            <a:srgbClr val="0F172A"/>
          </a:solidFill>
          <a:ln/>
        </p:spPr>
      </p:sp>
      <p:sp>
        <p:nvSpPr>
          <p:cNvPr id="18" name="Text 16"/>
          <p:cNvSpPr/>
          <p:nvPr/>
        </p:nvSpPr>
        <p:spPr>
          <a:xfrm>
            <a:off x="822960" y="4297680"/>
            <a:ext cx="7498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 Try it before you decide:  </a:t>
            </a:r>
            <a:pPr indent="0" marL="0">
              <a:buNone/>
            </a:pPr>
            <a:r>
              <a:rPr lang="en-US" sz="1300" b="1" dirty="0">
                <a:solidFill>
                  <a:srgbClr val="FDB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rasoi-capital.vercel.app/underwrite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" y="4828032"/>
            <a:ext cx="8046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Goverdhan M D — Co-founder   ·   Aparna — Co-founder   ·   Srinivas J — Co-founder   ·   Boi — Co-founder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 STRATEGY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01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7.5M outlets. We reach them through their POS.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4023360" cy="3337560"/>
          </a:xfrm>
          <a:prstGeom prst="roundRect">
            <a:avLst>
              <a:gd name="adj" fmla="val 3288"/>
            </a:avLst>
          </a:prstGeom>
          <a:solidFill>
            <a:srgbClr val="FBF6EF"/>
          </a:solidFill>
          <a:ln/>
          <a:effectLst>
            <a:outerShdw sx="100000" sy="100000" kx="0" ky="0" algn="bl" rotWithShape="0" blurRad="76200" dist="25400" dir="5400000">
              <a:srgbClr val="CBD5E1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85800" y="1572768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ADDRESSABLE UNIVERSE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685800" y="1920240"/>
            <a:ext cx="347472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CBD5E1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22960" y="1975104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1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7.5M+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2103120" y="1975104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01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HORECA outlets in India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2103120" y="2267712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E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NRAI / industry est.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685800" y="2862072"/>
            <a:ext cx="347472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CBD5E1">
                <a:alpha val="2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22960" y="2916936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75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1.5M+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2103120" y="2916936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01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Organised, physical, digital-payment enabled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2103120" y="3209544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E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underwritable universe (top 30 cities)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685800" y="3803904"/>
            <a:ext cx="347472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CBD5E1">
                <a:alpha val="2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22960" y="3858768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150K+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2103120" y="3858768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01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POS systems today (Petpooja + UrbanPiper)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2103120" y="4151376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E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Pre-verified, real-time sales data accessible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4800600" y="1572768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CHANNEL: POS-LED DISTRIBUTION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800600" y="1920240"/>
            <a:ext cx="3977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A5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Instead of building a field force of 10,000, we embed inside the software the restaurant already uses every day.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800600" y="2578608"/>
            <a:ext cx="3977640" cy="594360"/>
          </a:xfrm>
          <a:prstGeom prst="roundRect">
            <a:avLst>
              <a:gd name="adj" fmla="val 13846"/>
            </a:avLst>
          </a:prstGeom>
          <a:solidFill>
            <a:srgbClr val="FFFFFF"/>
          </a:solidFill>
          <a:ln w="9525">
            <a:solidFill>
              <a:srgbClr val="ECE6DA"/>
            </a:solidFill>
            <a:prstDash val="solid"/>
          </a:ln>
          <a:effectLst>
            <a:outerShdw sx="100000" sy="100000" kx="0" ky="0" algn="bl" rotWithShape="0" blurRad="76200" dist="25400" dir="5400000">
              <a:srgbClr val="CBD5E1">
                <a:alpha val="2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800600" y="2578608"/>
            <a:ext cx="109728" cy="594360"/>
          </a:xfrm>
          <a:prstGeom prst="roundRect">
            <a:avLst>
              <a:gd name="adj" fmla="val 33333"/>
            </a:avLst>
          </a:prstGeom>
          <a:solidFill>
            <a:srgbClr val="E8520A"/>
          </a:solidFill>
          <a:ln/>
        </p:spPr>
      </p:sp>
      <p:sp>
        <p:nvSpPr>
          <p:cNvPr id="22" name="Text 20"/>
          <p:cNvSpPr/>
          <p:nvPr/>
        </p:nvSpPr>
        <p:spPr>
          <a:xfrm>
            <a:off x="5029200" y="2651760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Petpooja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309360" y="2651760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1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150K+ outlets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029200" y="2907792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4A5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India's largest restaurant POS · 200+ cities</a:t>
            </a:r>
            <a:endParaRPr lang="en-US" sz="880" dirty="0"/>
          </a:p>
        </p:txBody>
      </p:sp>
      <p:sp>
        <p:nvSpPr>
          <p:cNvPr id="25" name="Shape 23"/>
          <p:cNvSpPr/>
          <p:nvPr/>
        </p:nvSpPr>
        <p:spPr>
          <a:xfrm>
            <a:off x="4800600" y="3291840"/>
            <a:ext cx="3977640" cy="594360"/>
          </a:xfrm>
          <a:prstGeom prst="roundRect">
            <a:avLst>
              <a:gd name="adj" fmla="val 13846"/>
            </a:avLst>
          </a:prstGeom>
          <a:solidFill>
            <a:srgbClr val="FFFFFF"/>
          </a:solidFill>
          <a:ln w="9525">
            <a:solidFill>
              <a:srgbClr val="ECE6DA"/>
            </a:solidFill>
            <a:prstDash val="solid"/>
          </a:ln>
          <a:effectLst>
            <a:outerShdw sx="100000" sy="100000" kx="0" ky="0" algn="bl" rotWithShape="0" blurRad="76200" dist="25400" dir="5400000">
              <a:srgbClr val="CBD5E1">
                <a:alpha val="2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800600" y="3291840"/>
            <a:ext cx="109728" cy="594360"/>
          </a:xfrm>
          <a:prstGeom prst="roundRect">
            <a:avLst>
              <a:gd name="adj" fmla="val 33333"/>
            </a:avLst>
          </a:prstGeom>
          <a:solidFill>
            <a:srgbClr val="0E756C"/>
          </a:solidFill>
          <a:ln/>
        </p:spPr>
      </p:sp>
      <p:sp>
        <p:nvSpPr>
          <p:cNvPr id="27" name="Text 25"/>
          <p:cNvSpPr/>
          <p:nvPr/>
        </p:nvSpPr>
        <p:spPr>
          <a:xfrm>
            <a:off x="5029200" y="3364992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75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UrbanPiper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309360" y="3364992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1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45K+ outlets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029200" y="3621024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4A5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Swiggy &amp; Zomato backed · 30 countries</a:t>
            </a:r>
            <a:endParaRPr lang="en-US" sz="880" dirty="0"/>
          </a:p>
        </p:txBody>
      </p:sp>
      <p:sp>
        <p:nvSpPr>
          <p:cNvPr id="30" name="Shape 28"/>
          <p:cNvSpPr/>
          <p:nvPr/>
        </p:nvSpPr>
        <p:spPr>
          <a:xfrm>
            <a:off x="4800600" y="4005072"/>
            <a:ext cx="3977640" cy="594360"/>
          </a:xfrm>
          <a:prstGeom prst="roundRect">
            <a:avLst>
              <a:gd name="adj" fmla="val 13846"/>
            </a:avLst>
          </a:prstGeom>
          <a:solidFill>
            <a:srgbClr val="FFFFFF"/>
          </a:solidFill>
          <a:ln w="9525">
            <a:solidFill>
              <a:srgbClr val="ECE6DA"/>
            </a:solidFill>
            <a:prstDash val="solid"/>
          </a:ln>
          <a:effectLst>
            <a:outerShdw sx="100000" sy="100000" kx="0" ky="0" algn="bl" rotWithShape="0" blurRad="76200" dist="25400" dir="5400000">
              <a:srgbClr val="CBD5E1">
                <a:alpha val="25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800600" y="4005072"/>
            <a:ext cx="109728" cy="594360"/>
          </a:xfrm>
          <a:prstGeom prst="roundRect">
            <a:avLst>
              <a:gd name="adj" fmla="val 33333"/>
            </a:avLst>
          </a:prstGeom>
          <a:solidFill>
            <a:srgbClr val="8E99B0"/>
          </a:solidFill>
          <a:ln/>
        </p:spPr>
      </p:sp>
      <p:sp>
        <p:nvSpPr>
          <p:cNvPr id="32" name="Text 30"/>
          <p:cNvSpPr/>
          <p:nvPr/>
        </p:nvSpPr>
        <p:spPr>
          <a:xfrm>
            <a:off x="5029200" y="4078224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E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Others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309360" y="4078224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1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100K+ outlets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5029200" y="4334256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4A5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GoFrugal, Posist, Torqus, Billberry...</a:t>
            </a:r>
            <a:endParaRPr lang="en-US" sz="880" dirty="0"/>
          </a:p>
        </p:txBody>
      </p:sp>
      <p:sp>
        <p:nvSpPr>
          <p:cNvPr id="35" name="Shape 33"/>
          <p:cNvSpPr/>
          <p:nvPr/>
        </p:nvSpPr>
        <p:spPr>
          <a:xfrm>
            <a:off x="4800600" y="4663440"/>
            <a:ext cx="3977640" cy="329184"/>
          </a:xfrm>
          <a:prstGeom prst="roundRect">
            <a:avLst>
              <a:gd name="adj" fmla="val 19444"/>
            </a:avLst>
          </a:prstGeom>
          <a:solidFill>
            <a:srgbClr val="ECFDF5"/>
          </a:solidFill>
          <a:ln w="9525">
            <a:solidFill>
              <a:srgbClr val="177A3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937760" y="4718304"/>
            <a:ext cx="3749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177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Revenue-sharing model: POS partner gets % of PF — no upfront cost, pure incentive alignment</a:t>
            </a:r>
            <a:endParaRPr lang="en-US" sz="880" dirty="0"/>
          </a:p>
        </p:txBody>
      </p:sp>
      <p:sp>
        <p:nvSpPr>
          <p:cNvPr id="37" name="Text 35"/>
          <p:cNvSpPr/>
          <p:nvPr/>
        </p:nvSpPr>
        <p:spPr>
          <a:xfrm>
            <a:off x="8549640" y="4864608"/>
            <a:ext cx="411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E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5A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0" y="5074920"/>
            <a:ext cx="9144000" cy="68580"/>
          </a:xfrm>
          <a:prstGeom prst="rect">
            <a:avLst/>
          </a:prstGeom>
          <a:solidFill>
            <a:srgbClr val="E8520A"/>
          </a:solidFill>
          <a:ln/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2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WE WIN · MOAT &amp; USP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01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unfair advantages. None of them copyable.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3977640" cy="1572768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9525">
            <a:solidFill>
              <a:srgbClr val="ECE6DA"/>
            </a:solidFill>
            <a:prstDash val="solid"/>
          </a:ln>
          <a:effectLst>
            <a:outerShdw sx="100000" sy="100000" kx="0" ky="0" algn="bl" rotWithShape="0" blurRad="76200" dist="25400" dir="5400000">
              <a:srgbClr val="CBD5E1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298448"/>
            <a:ext cx="3977640" cy="91440"/>
          </a:xfrm>
          <a:prstGeom prst="rect">
            <a:avLst/>
          </a:prstGeom>
          <a:solidFill>
            <a:srgbClr val="6B2BD9"/>
          </a:solidFill>
          <a:ln/>
        </p:spPr>
      </p:sp>
      <p:sp>
        <p:nvSpPr>
          <p:cNvPr id="6" name="Text 4"/>
          <p:cNvSpPr/>
          <p:nvPr/>
        </p:nvSpPr>
        <p:spPr>
          <a:xfrm>
            <a:off x="667512" y="14630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67512" y="1463040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1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🧠  We score the business, not the paperwork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667512" y="1828800"/>
            <a:ext cx="3611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50" dirty="0">
                <a:solidFill>
                  <a:srgbClr val="4A5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6-factor HORECA model: outlet margin, Q-Q growth, location, FSA ambience, sales, bureau. CIBIL is our smallest weight. Every competitor builds around it. That single inversion lets us approve outlets banks reject — at lower NPA.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67512" y="2487168"/>
            <a:ext cx="3611880" cy="256032"/>
          </a:xfrm>
          <a:prstGeom prst="roundRect">
            <a:avLst>
              <a:gd name="adj" fmla="val 17857"/>
            </a:avLst>
          </a:prstGeom>
          <a:solidFill>
            <a:srgbClr val="F5F3FF"/>
          </a:solidFill>
          <a:ln/>
        </p:spPr>
      </p:sp>
      <p:sp>
        <p:nvSpPr>
          <p:cNvPr id="10" name="Text 8"/>
          <p:cNvSpPr/>
          <p:nvPr/>
        </p:nvSpPr>
        <p:spPr>
          <a:xfrm>
            <a:off x="722376" y="2523744"/>
            <a:ext cx="3520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6B2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  Proprietary scoring model calibrated to HORECA — no competitor dataset, 6-month rebuild minimum</a:t>
            </a:r>
            <a:endParaRPr lang="en-US" sz="780" dirty="0"/>
          </a:p>
        </p:txBody>
      </p:sp>
      <p:sp>
        <p:nvSpPr>
          <p:cNvPr id="11" name="Shape 9"/>
          <p:cNvSpPr/>
          <p:nvPr/>
        </p:nvSpPr>
        <p:spPr>
          <a:xfrm>
            <a:off x="4818888" y="1298448"/>
            <a:ext cx="3977640" cy="1572768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9525">
            <a:solidFill>
              <a:srgbClr val="ECE6DA"/>
            </a:solidFill>
            <a:prstDash val="solid"/>
          </a:ln>
          <a:effectLst>
            <a:outerShdw sx="100000" sy="100000" kx="0" ky="0" algn="bl" rotWithShape="0" blurRad="76200" dist="25400" dir="5400000">
              <a:srgbClr val="CBD5E1">
                <a:alpha val="2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818888" y="1298448"/>
            <a:ext cx="3977640" cy="91440"/>
          </a:xfrm>
          <a:prstGeom prst="rect">
            <a:avLst/>
          </a:prstGeom>
          <a:solidFill>
            <a:srgbClr val="E8520A"/>
          </a:solidFill>
          <a:ln/>
        </p:spPr>
      </p:sp>
      <p:sp>
        <p:nvSpPr>
          <p:cNvPr id="13" name="Text 11"/>
          <p:cNvSpPr/>
          <p:nvPr/>
        </p:nvSpPr>
        <p:spPr>
          <a:xfrm>
            <a:off x="4983480" y="14630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83480" y="1463040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1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⏰  Daily EMI at 9 PM — when the till is full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983480" y="1828800"/>
            <a:ext cx="3611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50" dirty="0">
                <a:solidFill>
                  <a:srgbClr val="4A5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HORECA earns daily. We collect daily, at peak. A bad Tuesday costs ₹3,500 — not ₹1,05,000. Monthly NACH competitors manufacture defaults by design. Our multi-bank SI waterfall is structurally impossible to replicate on monthly-EMI architecture.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4983480" y="2487168"/>
            <a:ext cx="3611880" cy="256032"/>
          </a:xfrm>
          <a:prstGeom prst="roundRect">
            <a:avLst>
              <a:gd name="adj" fmla="val 17857"/>
            </a:avLst>
          </a:prstGeom>
          <a:solidFill>
            <a:srgbClr val="F5F3FF"/>
          </a:solidFill>
          <a:ln/>
        </p:spPr>
      </p:sp>
      <p:sp>
        <p:nvSpPr>
          <p:cNvPr id="17" name="Text 15"/>
          <p:cNvSpPr/>
          <p:nvPr/>
        </p:nvSpPr>
        <p:spPr>
          <a:xfrm>
            <a:off x="5038344" y="2523744"/>
            <a:ext cx="3520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6B2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  Requires SI waterfall + daily bureau-reporting design — not retrofittable onto NACH infrastructure</a:t>
            </a:r>
            <a:endParaRPr lang="en-US" sz="780" dirty="0"/>
          </a:p>
        </p:txBody>
      </p:sp>
      <p:sp>
        <p:nvSpPr>
          <p:cNvPr id="18" name="Shape 16"/>
          <p:cNvSpPr/>
          <p:nvPr/>
        </p:nvSpPr>
        <p:spPr>
          <a:xfrm>
            <a:off x="502920" y="3017520"/>
            <a:ext cx="3977640" cy="1572768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9525">
            <a:solidFill>
              <a:srgbClr val="ECE6DA"/>
            </a:solidFill>
            <a:prstDash val="solid"/>
          </a:ln>
          <a:effectLst>
            <a:outerShdw sx="100000" sy="100000" kx="0" ky="0" algn="bl" rotWithShape="0" blurRad="76200" dist="25400" dir="5400000">
              <a:srgbClr val="CBD5E1">
                <a:alpha val="2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02920" y="3017520"/>
            <a:ext cx="3977640" cy="91440"/>
          </a:xfrm>
          <a:prstGeom prst="rect">
            <a:avLst/>
          </a:prstGeom>
          <a:solidFill>
            <a:srgbClr val="0E756C"/>
          </a:solidFill>
          <a:ln/>
        </p:spPr>
      </p:sp>
      <p:sp>
        <p:nvSpPr>
          <p:cNvPr id="20" name="Text 18"/>
          <p:cNvSpPr/>
          <p:nvPr/>
        </p:nvSpPr>
        <p:spPr>
          <a:xfrm>
            <a:off x="667512" y="318211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667512" y="3182112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1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📡  POS distribution — 150K+ outlets, near-zero CAC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67512" y="3547872"/>
            <a:ext cx="3611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50" dirty="0">
                <a:solidFill>
                  <a:srgbClr val="4A5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Petpooja (150K outlets, 200 cities) + UrbanPiper (45K outlets, Zomato/Swiggy-backed) are our channel. Revenue-sharing model: no fixed cost, pure incentive alignment. Competitor field-sales CAC: ₹8,000–15,000/loan. Ours: near zero on repeat.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67512" y="4206240"/>
            <a:ext cx="3611880" cy="256032"/>
          </a:xfrm>
          <a:prstGeom prst="roundRect">
            <a:avLst>
              <a:gd name="adj" fmla="val 17857"/>
            </a:avLst>
          </a:prstGeom>
          <a:solidFill>
            <a:srgbClr val="F5F3FF"/>
          </a:solidFill>
          <a:ln/>
        </p:spPr>
      </p:sp>
      <p:sp>
        <p:nvSpPr>
          <p:cNvPr id="24" name="Text 22"/>
          <p:cNvSpPr/>
          <p:nvPr/>
        </p:nvSpPr>
        <p:spPr>
          <a:xfrm>
            <a:off x="722376" y="4242816"/>
            <a:ext cx="3520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6B2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  Exclusive channel relationships + real-time POS data for underwriting — competitors need ground ops</a:t>
            </a:r>
            <a:endParaRPr lang="en-US" sz="780" dirty="0"/>
          </a:p>
        </p:txBody>
      </p:sp>
      <p:sp>
        <p:nvSpPr>
          <p:cNvPr id="25" name="Shape 23"/>
          <p:cNvSpPr/>
          <p:nvPr/>
        </p:nvSpPr>
        <p:spPr>
          <a:xfrm>
            <a:off x="4818888" y="3017520"/>
            <a:ext cx="3977640" cy="1572768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9525">
            <a:solidFill>
              <a:srgbClr val="ECE6DA"/>
            </a:solidFill>
            <a:prstDash val="solid"/>
          </a:ln>
          <a:effectLst>
            <a:outerShdw sx="100000" sy="100000" kx="0" ky="0" algn="bl" rotWithShape="0" blurRad="76200" dist="25400" dir="5400000">
              <a:srgbClr val="CBD5E1">
                <a:alpha val="2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818888" y="3017520"/>
            <a:ext cx="3977640" cy="91440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27" name="Text 25"/>
          <p:cNvSpPr/>
          <p:nvPr/>
        </p:nvSpPr>
        <p:spPr>
          <a:xfrm>
            <a:off x="4983480" y="318211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4983480" y="3182112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1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 30× repayment data — the RL model no one else can build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4983480" y="3547872"/>
            <a:ext cx="3611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50" dirty="0">
                <a:solidFill>
                  <a:srgbClr val="4A5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EMI = 365 signals per loan per year. Monthly lenders get 12. We are training a Reinforcement Learning model on labelled HORECA repayment data — a dataset that doesn't exist anywhere on Earth today. By month 18, no competitor can buy this moat.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4983480" y="4206240"/>
            <a:ext cx="3611880" cy="256032"/>
          </a:xfrm>
          <a:prstGeom prst="roundRect">
            <a:avLst>
              <a:gd name="adj" fmla="val 17857"/>
            </a:avLst>
          </a:prstGeom>
          <a:solidFill>
            <a:srgbClr val="F5F3FF"/>
          </a:solidFill>
          <a:ln/>
        </p:spPr>
      </p:sp>
      <p:sp>
        <p:nvSpPr>
          <p:cNvPr id="31" name="Text 29"/>
          <p:cNvSpPr/>
          <p:nvPr/>
        </p:nvSpPr>
        <p:spPr>
          <a:xfrm>
            <a:off x="5038344" y="4242816"/>
            <a:ext cx="3520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6B2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  Proprietary labelled HORECA default/repayment data — 18-month head start, cannot be acquired</a:t>
            </a:r>
            <a:endParaRPr lang="en-US" sz="780" dirty="0"/>
          </a:p>
        </p:txBody>
      </p:sp>
      <p:sp>
        <p:nvSpPr>
          <p:cNvPr id="32" name="Shape 30"/>
          <p:cNvSpPr/>
          <p:nvPr/>
        </p:nvSpPr>
        <p:spPr>
          <a:xfrm>
            <a:off x="4315968" y="4736592"/>
            <a:ext cx="3977640" cy="1572768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9525">
            <a:solidFill>
              <a:srgbClr val="ECE6DA"/>
            </a:solidFill>
            <a:prstDash val="solid"/>
          </a:ln>
          <a:effectLst>
            <a:outerShdw sx="100000" sy="100000" kx="0" ky="0" algn="bl" rotWithShape="0" blurRad="76200" dist="25400" dir="5400000">
              <a:srgbClr val="CBD5E1">
                <a:alpha val="25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4315968" y="4736592"/>
            <a:ext cx="3977640" cy="91440"/>
          </a:xfrm>
          <a:prstGeom prst="rect">
            <a:avLst/>
          </a:prstGeom>
          <a:solidFill>
            <a:srgbClr val="177A3D"/>
          </a:solidFill>
          <a:ln/>
        </p:spPr>
      </p:sp>
      <p:sp>
        <p:nvSpPr>
          <p:cNvPr id="34" name="Text 32"/>
          <p:cNvSpPr/>
          <p:nvPr/>
        </p:nvSpPr>
        <p:spPr>
          <a:xfrm>
            <a:off x="4480560" y="490118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4480560" y="4901184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1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🛡️  RBI-ready policy stack — live, board-reviewed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4480560" y="5266944"/>
            <a:ext cx="3611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50" dirty="0">
                <a:solidFill>
                  <a:srgbClr val="4A5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policy, Collection &amp; Recovery Policy (Fair Practices Code), bureau framework — all written, reviewed, and board-ready. Most fintech NBFC applicants spend 6–9 months on this. We walk in with it done.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4480560" y="5925312"/>
            <a:ext cx="3611880" cy="256032"/>
          </a:xfrm>
          <a:prstGeom prst="roundRect">
            <a:avLst>
              <a:gd name="adj" fmla="val 17857"/>
            </a:avLst>
          </a:prstGeom>
          <a:solidFill>
            <a:srgbClr val="F5F3FF"/>
          </a:solidFill>
          <a:ln/>
        </p:spPr>
      </p:sp>
      <p:sp>
        <p:nvSpPr>
          <p:cNvPr id="38" name="Text 36"/>
          <p:cNvSpPr/>
          <p:nvPr/>
        </p:nvSpPr>
        <p:spPr>
          <a:xfrm>
            <a:off x="4535424" y="5961888"/>
            <a:ext cx="3520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6B2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  Policy stack complete before licence — 6-9 month structural advantage over any new entrant</a:t>
            </a:r>
            <a:endParaRPr lang="en-US" sz="780" dirty="0"/>
          </a:p>
        </p:txBody>
      </p:sp>
      <p:sp>
        <p:nvSpPr>
          <p:cNvPr id="39" name="Text 37"/>
          <p:cNvSpPr/>
          <p:nvPr/>
        </p:nvSpPr>
        <p:spPr>
          <a:xfrm>
            <a:off x="8549640" y="4864608"/>
            <a:ext cx="411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E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5B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0" y="5074920"/>
            <a:ext cx="9144000" cy="68580"/>
          </a:xfrm>
          <a:prstGeom prst="rect">
            <a:avLst/>
          </a:prstGeom>
          <a:solidFill>
            <a:srgbClr val="E8520A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Rasoi Capital — Series Seed Pitch</dc:title>
  <dc:subject>PptxGenJS Presentation</dc:subject>
  <dc:creator>PptxGenJS</dc:creator>
  <cp:lastModifiedBy>PptxGenJS</cp:lastModifiedBy>
  <cp:revision>1</cp:revision>
  <dcterms:created xsi:type="dcterms:W3CDTF">2026-06-11T05:52:49Z</dcterms:created>
  <dcterms:modified xsi:type="dcterms:W3CDTF">2026-06-11T05:52:49Z</dcterms:modified>
</cp:coreProperties>
</file>