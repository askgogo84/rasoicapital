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23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  <Relationship Id="rId23" Type="http://schemas.openxmlformats.org/officeDocument/2006/relationships/slide" Target="slides/slide17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Industry size (₹ lakh Cr)</c:v>
                </c:pt>
              </c:strCache>
            </c:strRef>
          </c:tx>
          <c:spPr>
            <a:solidFill>
              <a:srgbClr val="E8520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FY24</c:v>
                  </c:pt>
                  <c:pt idx="1">
                    <c:v>FY25</c:v>
                  </c:pt>
                  <c:pt idx="2">
                    <c:v>FY26</c:v>
                  </c:pt>
                  <c:pt idx="3">
                    <c:v>FY27</c:v>
                  </c:pt>
                  <c:pt idx="4">
                    <c:v>FY28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5.69</c:v>
                </c:pt>
                <c:pt idx="1">
                  <c:v>6.15</c:v>
                </c:pt>
                <c:pt idx="2">
                  <c:v>6.65</c:v>
                </c:pt>
                <c:pt idx="3">
                  <c:v>7.19</c:v>
                </c:pt>
                <c:pt idx="4">
                  <c:v>7.77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0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Typical HORECA daily cash balance</c:v>
                </c:pt>
              </c:strCache>
            </c:strRef>
          </c:tx>
          <c:spPr>
            <a:solidFill>
              <a:srgbClr val="E8520A"/>
            </a:solidFill>
            <a:ln w="38100" cap="flat">
              <a:solidFill>
                <a:srgbClr val="E852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8520A"/>
              </a:solidFill>
              <a:ln w="9525" cap="flat">
                <a:solidFill>
                  <a:srgbClr val="E852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6 AM</c:v>
                  </c:pt>
                  <c:pt idx="1">
                    <c:v>9 AM</c:v>
                  </c:pt>
                  <c:pt idx="2">
                    <c:v>12 PM</c:v>
                  </c:pt>
                  <c:pt idx="3">
                    <c:v>3 PM</c:v>
                  </c:pt>
                  <c:pt idx="4">
                    <c:v>6 PM</c:v>
                  </c:pt>
                  <c:pt idx="5">
                    <c:v>8 PM</c:v>
                  </c:pt>
                  <c:pt idx="6">
                    <c:v>10 PM</c:v>
                  </c:pt>
                  <c:pt idx="7">
                    <c:v>12 AM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12</c:v>
                </c:pt>
                <c:pt idx="1">
                  <c:v>8</c:v>
                </c:pt>
                <c:pt idx="2">
                  <c:v>35</c:v>
                </c:pt>
                <c:pt idx="3">
                  <c:v>28</c:v>
                </c:pt>
                <c:pt idx="4">
                  <c:v>45</c:v>
                </c:pt>
                <c:pt idx="5">
                  <c:v>88</c:v>
                </c:pt>
                <c:pt idx="6">
                  <c:v>100</c:v>
                </c:pt>
                <c:pt idx="7">
                  <c:v>60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line, pause, then: 'Everything we show you today is live. At the end of this deck we'll underwrite a real restaurant in front of you, in 30 seconds.'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does one job: kill the 'is this vaporware' question in minute one. Hand them your phone with /underwrite open if they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Anchor: the problem is not borrower quality — it is measurement failure plus product design failure. That framing sets up our two-part solution: AI underwriting + daily EMI.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Sizing logic is conservative and explainable. SOM comparison to Oxyzo makes the point: we don't need to win the market to be a large company — we need 0.2% of outlets.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pillars, one sentence each: We score what banks can't see. We collect when the till is full. We escalate like a regulator wrote it — because one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line: CIBIL is deliberately our SMALLEST weight. Every competitor makes it the biggest. That single inversion is why we can approve outlets they reject — profitably.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moment of the pitch. Let the INVESTOR choose the inputs — sales figure, CIBIL, growth. When their numbers come back scored with an AI memo in 2 seconds, the vaporware question dies permanently.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competitors can't copy without re-architecting their entire collection stack. NACH mandates are monthly by design; our SI waterfall at 9 PM is purpose-built.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asymmetry: TWO buckets for performing accounts. Splitting Clean from Normal is a daily-EMI innovation — pre-emptive risk detection a monthly lender literally cannot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competitors as VALIDATION, not threat: Oxyzo proves the economics. Our wedge is depth they can't retrofit — sector scoring, field force, and a daily-EMI stack their NACH-based systems weren't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30× line is the one they'll remember: daily EMI isn't just a collections tool — it's a data instrument. Each loan emits 365 signals a year. Nobody else's book does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illustrative and conservative — say so. The insight: a HORECA borrower is not a transaction, it's an annuity. Cycle-2+ loans carry near-zero acquisition cost and known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Investors fear regulatory naivety more than competition. This slide shows we've priced both routes, know the 26% trigger and fit-&amp;-proper rules, and the NOF is committed capital — not burn.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killer reframe: this is not a typical seed where money evaporates into salaries. 80% becomes balance-sheet assets — NOF and a yielding loan book. Equity here buys a regulated institution.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KPI box is a gate, not a hope — NPA thresholds decide whether we scale to the next phase. Investors should hear discipline, not hockey sticks.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where you began: with the live product. Last line spoken aloud: 'The demo stays live after this meeting. Underwrite any restaurant you know tonight — and call us tomorrow.'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 CAPITAL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863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feeds the world.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funds 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kitchen.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AI-first lending platform for India's ₹5.7 lakh crore HORECA industry —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 live, working underwriting engine you can test today.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78638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 Cr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715768" y="3794760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807208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 Licence + NOF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54296" y="3794760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STATUS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45736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&amp; Demo-Ready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592824" y="3794760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4264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84264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/ Pre-Series 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47091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AI  ·  Bengaluru  ·  Investor Presentation  ·  July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concept deck.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the next 14 slides is running in production, right now. You're welcome to open it on your phone while we talk.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269748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" y="1993392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15803D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99339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67512" y="23774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Underwriting Engine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7512" y="290779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6-factor HORECA credit model scores any outlet in under a second and writes a full AI risk memo.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7512" y="382219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rasoi-capital.vercel.app/underwrite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83280" y="1828800"/>
            <a:ext cx="269748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47872" y="1993392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15803D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199339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47872" y="23774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Lending Platform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47872" y="290779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Applications, loan book, virtual-account collections engine, DPD buckets, portfolio analytics. 17-table production database.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547872" y="382219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63640" y="1828800"/>
            <a:ext cx="269748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28232" y="1993392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6428232" y="199339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28232" y="23774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RBI-Aligned Policy Stack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28232" y="290779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policy, collection &amp; recovery policy (Fair Practices Code), bureau reporting framework — written, reviewed, board-ready.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28232" y="382219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in data room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437083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453128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DEMO MOMENT №1 — </a:t>
            </a:r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underwrite a live restaurant on screen at slide 7. Hold your scepticism until then.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Kitchens run on credit nobody gives them.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restaurant earning ₹7 lakh a month — daily cash flow, real customers, real margins — walks into a bank and gets rejected. Why?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21284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22311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 can't see daily cash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505456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30–40% of HORECA revenue is cash &amp; UPI that annual filings under-report. Banks score the paperwork, not the business.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31089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51560" y="31272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SME models misfire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401568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dhaba and a steel trader get the same scorecard. Margin structures, seasonality, footfall — all invisible to NBFC models.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400507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40233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EMI vs daily income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4297680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HORECA earns daily but repays monthly — one bad week breaks the EMI. Product design itself manufactures defaults.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00600" y="132588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AF7F2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0" y="14813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 DO THEY GO?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0" y="17830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36–48%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5029200" y="245059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p.a. — informal moneylenders, the default banker of Indian HORECA.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0" y="3035808"/>
            <a:ext cx="347472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316382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8.5M+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26480" y="3200400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employed — India's 2nd largest employer (NRAI)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0" y="3694176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~70%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26480" y="3730752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outlets remain outside formal credit (industry est.)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029200" y="422452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₹1.9%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26480" y="4261104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GDP — yet no dedicated HORECA lender exists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3rd-largest food market on Earth by 2028.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481328"/>
          <a:ext cx="4023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food services industry, NRAI IFSR 2024 · 8.1% CAGR · organised segment growing 13.2%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800600" y="1481328"/>
            <a:ext cx="3977640" cy="932688"/>
          </a:xfrm>
          <a:prstGeom prst="roundRect">
            <a:avLst>
              <a:gd name="adj" fmla="val 8824"/>
            </a:avLst>
          </a:prstGeom>
          <a:solidFill>
            <a:srgbClr val="FDE8DB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983480" y="1554480"/>
            <a:ext cx="3611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— HORECA credit demand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83480" y="1755648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₹95,000+ Cr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983480" y="206654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 + expansion credit demand across 14M+ outlets (est. at ~12% of industry GMV)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00600" y="2542032"/>
            <a:ext cx="3200400" cy="932688"/>
          </a:xfrm>
          <a:prstGeom prst="roundRect">
            <a:avLst>
              <a:gd name="adj" fmla="val 8824"/>
            </a:avLst>
          </a:prstGeom>
          <a:solidFill>
            <a:srgbClr val="FACDB0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983480" y="2615184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— Organised, physical, metro+T1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983480" y="2816352"/>
            <a:ext cx="2834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₹28,000 Cr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4983480" y="3127248"/>
            <a:ext cx="2880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Customer-facing outlets in top 20 cities with digital payment trails — our underwritable universe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800600" y="3602736"/>
            <a:ext cx="2377440" cy="932688"/>
          </a:xfrm>
          <a:prstGeom prst="roundRect">
            <a:avLst>
              <a:gd name="adj" fmla="val 8824"/>
            </a:avLst>
          </a:prstGeom>
          <a:solidFill>
            <a:srgbClr val="E8520A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983480" y="3675888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E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— 5-year target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983480" y="38770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₹1,500 Cr AUM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4983480" y="4187952"/>
            <a:ext cx="2057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E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~30,000 active loans at ₹5L average — 0.2% of outlets. Oxyzo built ₹11,822Cr AUM in broad SME; we need a sliver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how a kitchen actually earns.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697480" cy="32461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81328"/>
            <a:ext cx="2697480" cy="1097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0078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🧠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sees the business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85800" y="2834640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6-factor HORECA scoring engine — margin, growth, sales, location, ambience, bureau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85800" y="3438144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 writes a full credit memo for every decision — transparent, auditable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85800" y="4041648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field force captures what no API can: footfall, hygiene, real seating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83280" y="1481328"/>
            <a:ext cx="2697480" cy="32461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1481328"/>
            <a:ext cx="2697480" cy="109728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170078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⏰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66160" y="2240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at the source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566160" y="2834640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account (Castler) intercepts Swiggy/Zomato settlements at source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66160" y="3438144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 auto-deducted before the borrower is paid; remainder swept to the outlet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566160" y="4041648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a day? Recoup any day that month — bureau sees only the monthly total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63640" y="1481328"/>
            <a:ext cx="2697480" cy="32461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1481328"/>
            <a:ext cx="2697480" cy="10972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170078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🛡️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446520" y="2240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built for dignity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446520" y="2834640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5-bucket framework (Clean → NPA) under RBI Fair Practices Code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46520" y="3438144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collection; clean payers earn better terms + cross-sell after 6 months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446520" y="4041648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proportional to DPD — relationship first, recovery second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AI UNDERWRITING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factors. One score. Full explanation.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reconcile bank + aggregator data and score the agreement — not the claim.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64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 Margin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77440" y="16642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7" name="Shape 5"/>
          <p:cNvSpPr/>
          <p:nvPr/>
        </p:nvSpPr>
        <p:spPr>
          <a:xfrm>
            <a:off x="2377440" y="16642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E8520A"/>
          </a:solidFill>
          <a:ln/>
        </p:spPr>
      </p:sp>
      <p:sp>
        <p:nvSpPr>
          <p:cNvPr id="8" name="Text 6"/>
          <p:cNvSpPr/>
          <p:nvPr/>
        </p:nvSpPr>
        <p:spPr>
          <a:xfrm>
            <a:off x="5532120" y="16642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35040" y="16824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Menu-category matrix (A–D): premium 35% → value 24%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02920" y="2121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Q-Q Revenue Growth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77440" y="21214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12" name="Shape 10"/>
          <p:cNvSpPr/>
          <p:nvPr/>
        </p:nvSpPr>
        <p:spPr>
          <a:xfrm>
            <a:off x="2377440" y="21214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5532120" y="21214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35040" y="21396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statements + Swiggy/Zomato payout trails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578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Monthly Sales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77440" y="25786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2377440" y="2578608"/>
            <a:ext cx="2072640" cy="27432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5532120" y="2578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25968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verified average across ALL declared accounts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02920" y="30358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Type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77440" y="30358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035808"/>
            <a:ext cx="1036320" cy="27432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5532120" y="30358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0" y="30540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geo-tag: IT park / mall / high street / captive / other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02920" y="3493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Ambience Score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377440" y="34930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27" name="Shape 25"/>
          <p:cNvSpPr/>
          <p:nvPr/>
        </p:nvSpPr>
        <p:spPr>
          <a:xfrm>
            <a:off x="2377440" y="3493008"/>
            <a:ext cx="518160" cy="274320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34930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35112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field visit — décor, seating, hygiene (3-flag system)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02920" y="3950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377440" y="39502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32" name="Shape 30"/>
          <p:cNvSpPr/>
          <p:nvPr/>
        </p:nvSpPr>
        <p:spPr>
          <a:xfrm>
            <a:off x="2377440" y="3950208"/>
            <a:ext cx="518160" cy="274320"/>
          </a:xfrm>
          <a:prstGeom prst="roundRect">
            <a:avLst>
              <a:gd name="adj" fmla="val 16667"/>
            </a:avLst>
          </a:prstGeom>
          <a:solidFill>
            <a:srgbClr val="94A3B8"/>
          </a:solidFill>
          <a:ln/>
        </p:spPr>
      </p:sp>
      <p:sp>
        <p:nvSpPr>
          <p:cNvPr id="33" name="Text 31"/>
          <p:cNvSpPr/>
          <p:nvPr/>
        </p:nvSpPr>
        <p:spPr>
          <a:xfrm>
            <a:off x="5532120" y="39502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35040" y="39684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pull — deliberately the smallest weight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02920" y="4434840"/>
            <a:ext cx="8229600" cy="475488"/>
          </a:xfrm>
          <a:prstGeom prst="roundRect">
            <a:avLst>
              <a:gd name="adj" fmla="val 15385"/>
            </a:avLst>
          </a:prstGeom>
          <a:solidFill>
            <a:srgbClr val="F5F3FF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535424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1–5 → Bucket </a:t>
            </a:r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(auto-approve · 18%)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1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(conditional · 19–20%)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(manual / reject)</a:t>
            </a:r>
            <a:pPr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+  Claude AI credit memo on every run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0" y="411480"/>
            <a:ext cx="2926080" cy="420624"/>
          </a:xfrm>
          <a:prstGeom prst="roundRect">
            <a:avLst>
              <a:gd name="adj" fmla="val 50000"/>
            </a:avLst>
          </a:prstGeom>
          <a:solidFill>
            <a:srgbClr val="E8520A"/>
          </a:solidFill>
          <a:ln/>
        </p:spPr>
      </p:sp>
      <p:sp>
        <p:nvSpPr>
          <p:cNvPr id="3" name="Text 1"/>
          <p:cNvSpPr/>
          <p:nvPr/>
        </p:nvSpPr>
        <p:spPr>
          <a:xfrm>
            <a:off x="3108960" y="4114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LIVE DEMO — 90 SECONDS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underwrite a real restaurant. Right now.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rasoi-capital.vercel.app/underwrite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103120"/>
            <a:ext cx="374904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2402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TYPE  (the investor picks the numbers)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514600" y="256032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 Garden Cafe, Bengaluru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90779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/ Location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14600" y="2907792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Mid-premium · High street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3255264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monthly sales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14600" y="3255264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₹7,00,000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360273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Q-Q growth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14600" y="3602736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14400" y="3950208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CIBIL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14600" y="395020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429768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Ambience (FSA)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14600" y="429768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positive · 1 average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34840" y="31089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4800600" y="2103120"/>
            <a:ext cx="3749040" cy="2606040"/>
          </a:xfrm>
          <a:prstGeom prst="roundRect">
            <a:avLst>
              <a:gd name="adj" fmla="val 4211"/>
            </a:avLst>
          </a:prstGeom>
          <a:solidFill>
            <a:srgbClr val="0F172A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983480" y="22402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RETURNS  (~2 seconds)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83480" y="256032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75120" y="256032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3.70 / 5.00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83480" y="290779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/ decision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0" y="29077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Approve w/ conditions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0" y="325526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fee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0" y="325526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 p.a. · 2.5% PF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83480" y="3602736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(Cycle-1 cap)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3602736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₹7,00,000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83480" y="395020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EMI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0" y="3950208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₹24,500/week at source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83480" y="42976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Claude credit memo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75120" y="42976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factors · path to 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right is computed live in our production database — not a mock-up.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COLLECTIONS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collect at the source — before the borrower is paid.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virtual account (via Castler) intercepts aggregator settlements. Repayment becomes structural, not behavioural.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691640"/>
          <a:ext cx="4663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3977640" y="1783080"/>
            <a:ext cx="1078992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977640" y="1810512"/>
            <a:ext cx="10789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Deducted at source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payout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02920" y="41148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Swiggy/Zomato settlements route through the Castler virtual account; EMI comes out first, remainder sweeps to the outlet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40680" y="1664208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10" name="Text 7"/>
          <p:cNvSpPr/>
          <p:nvPr/>
        </p:nvSpPr>
        <p:spPr>
          <a:xfrm>
            <a:off x="5440680" y="1664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33872" y="16459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before the borrower can spend it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833872" y="1920240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borrower can't forget, go overdrawn, or deprioritise us — the money is taken at the source of funds.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40680" y="2505456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14" name="Text 11"/>
          <p:cNvSpPr/>
          <p:nvPr/>
        </p:nvSpPr>
        <p:spPr>
          <a:xfrm>
            <a:off x="5440680" y="250545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833872" y="2487168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Castler escrow rails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833872" y="2761488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regulated escrow rails Mahindra Finance, IIFL and Oxyzo run on — RBI/SEBI-aligned, ISO 27001, banking partners incl. IDFC, SBI, Kotak.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40680" y="3346704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18" name="Text 15"/>
          <p:cNvSpPr/>
          <p:nvPr/>
        </p:nvSpPr>
        <p:spPr>
          <a:xfrm>
            <a:off x="5440680" y="33467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833872" y="3328416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cost collapses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833872" y="3602736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field collection, no bounce cycles for the performing book. The rails do the work — opex per performing loan approaches a bank transfer.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40680" y="4187952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22" name="Text 19"/>
          <p:cNvSpPr/>
          <p:nvPr/>
        </p:nvSpPr>
        <p:spPr>
          <a:xfrm>
            <a:off x="5440680" y="41879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833872" y="4169664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loss → cheaper loans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833872" y="444398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At-source collection cuts expected loss on settled revenue — so we approve outlets a bank rejects, below informal-lender rates.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RISK MANAGEMENT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collections ladder a regulator would write.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Board-ready Collection &amp; Recovery Policy — RBI Fair Practices Code, IBC-aligned, fully documented.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9164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15803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6479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0a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103120" y="18470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weekly misses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749040" y="17830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&amp; graduate — weekly/monthly EMI option, cross-sell, Cycle-2 priority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3317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2920" y="233172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65A30D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40487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5A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0b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26060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03120" y="24871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misses, monthly clean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0" y="24231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Nurture — understand skips, re-time the SI, positive reminders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97180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97180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04495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1–2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" y="324612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(early)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103120" y="31272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1–60 DPD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49040" y="30632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resolve — calls, PTPs logged in LMS, restructure to cash-flow cycle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611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02920" y="361188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EA580C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368503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" y="3886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(late)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103120" y="376732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DPD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749040" y="37033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NPA — FSA field visit, distributor loop, intensive engagement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425196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B91C1C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32511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7240" y="452628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NPA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103120" y="440740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90+ DPD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749040" y="43434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&amp; close — legal/enforcement as last resort, dignity preserved throughout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underwrites a kitchen. Until now.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8458200" cy="38404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1380744"/>
            <a:ext cx="1618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103120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Oxyzo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182112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LendingKart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261104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FlexiLoans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340096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Indifi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19088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NeoGrowth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498080" y="13807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 CAPITAL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709928"/>
            <a:ext cx="1371600" cy="3008376"/>
          </a:xfrm>
          <a:prstGeom prst="rect">
            <a:avLst/>
          </a:prstGeom>
          <a:solidFill>
            <a:srgbClr val="FFF4EC"/>
          </a:solidFill>
          <a:ln w="15875">
            <a:solidFill>
              <a:srgbClr val="E852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801368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HORECA-specific scoring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03120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82112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261104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40096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19088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498080" y="1801368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6-factor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2139696"/>
            <a:ext cx="7086600" cy="4297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2231136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intelligence (FSA)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103120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82112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61104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40096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19088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98080" y="2231136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Built-in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11480" y="2660904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at source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103120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182112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261104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340096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19088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(POS)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498080" y="2660904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Virtual account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2999232"/>
            <a:ext cx="7086600" cy="4297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6" name="Text 34"/>
          <p:cNvSpPr/>
          <p:nvPr/>
        </p:nvSpPr>
        <p:spPr>
          <a:xfrm>
            <a:off x="411480" y="3090672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credit memo per loan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103120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182112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261104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40096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9088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498080" y="3090672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Claude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11480" y="3520440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Borrower-friendly bureau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2103120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182112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261104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40096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19088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98080" y="3520440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Monthly-cum.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5760" y="3858768"/>
            <a:ext cx="7086600" cy="4297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1" name="Text 49"/>
          <p:cNvSpPr/>
          <p:nvPr/>
        </p:nvSpPr>
        <p:spPr>
          <a:xfrm>
            <a:off x="411480" y="3950208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rate (SME)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103120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12%+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182112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18%+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261104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19%+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340096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19088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20%+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498080" y="3950208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18–27% risk-based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11480" y="4379976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(context)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2103120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₹11.8k Cr AUM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182112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params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261104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$313M raised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340096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$129M raised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419088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POS-led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498080" y="4379976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+ policies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4773168"/>
            <a:ext cx="8458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company disclosures, FY25–26 filings, CB Insights. Oxyzo FY26: ₹1,494Cr revenue, 0.74% NPA — proof SME lending prints money at scale; none of it is HORECA-deep.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loan we make, makes the next loan smarter.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8520A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642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Originate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9751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captures ambience, location, category — data no bureau sells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0" y="15544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6642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Observe the revenue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337560" y="19751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settlement flows through the account we control — real revenue, not a proxy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31546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5803D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32644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Underwrite sharper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35753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approvals at same risk → lower NPA → cheaper debt capital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0" y="31546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337560" y="32644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Label &amp; learn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337560" y="35753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feed rl_training_data — RL model already architected in production schema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06040" y="2697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6CC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6080760" y="1600200"/>
            <a:ext cx="0" cy="306324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15727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pipe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6355080" y="1975104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control the account every rupee of aggregator revenue flows through — the raw fuel for the RL model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55080" y="263347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6355080" y="3035808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 for outlet ambience, category margins, or footfall — ours is proprietary by construction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55080" y="369417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2-sided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6355080" y="4096512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lock-in: borrowers graduate to better terms; our model graduates to better selection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of a single loan.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Cycle-1 illustrative · Bucket C · ₹7L · 6 months · 19% p.a. + 2.5% PF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0FDF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556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income (6 mo)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37560" y="175564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₹66,500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67128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0FDF4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23113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fee (2.5%)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337560" y="2231136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₹17,500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642616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E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706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debt capital (~10%)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37560" y="2706624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₹35,000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118104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EF2F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1821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+ FSA + collections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37560" y="318211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₹4,200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593592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57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credit loss (provision)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37560" y="365760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₹3,500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16052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2793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contribution / loan / cycle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154680" y="425196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₹41,300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0" y="16459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borrower compounds: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0" y="2057400"/>
            <a:ext cx="3749040" cy="731520"/>
          </a:xfrm>
          <a:prstGeom prst="roundRect">
            <a:avLst>
              <a:gd name="adj" fmla="val 10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93792" y="21488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236829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₹7L cap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12280" y="220370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· prove-out · collateral by bucket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5029200" y="2926080"/>
            <a:ext cx="3749040" cy="731520"/>
          </a:xfrm>
          <a:prstGeom prst="roundRect">
            <a:avLst>
              <a:gd name="adj" fmla="val 10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93792" y="301752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93792" y="323697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12280" y="307238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borrower · known weekly-payment history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029200" y="3794760"/>
            <a:ext cx="3749040" cy="731520"/>
          </a:xfrm>
          <a:prstGeom prst="roundRect">
            <a:avLst>
              <a:gd name="adj" fmla="val 10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93792" y="388620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3+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93792" y="410565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812280" y="394106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 · rate discounts via clean record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5029200" y="470001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compounds while CAC ≈ ₹0 on repeats — the FSA already knows the outlet.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roads to the licence. Both fully costed.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mandates ₹10 Cr minimum Net Owned Fund either way (Sec 45-IA, RBI Act) — it anchors this raise.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40690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828800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8520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82880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46120" y="184708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4–7 months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3703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an existing NBFC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5603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a clean, dormant NBFC-ICC shell with valid CoR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685800" y="294436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prior approval — 26%+ stake / change of control + fit-&amp;-proper on directors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68580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public notice, then capital infusion to ₹10 Cr+ NOF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685800" y="371246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over book: ₹50L–1.5Cr depending on vintage &amp; cleanliness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685800" y="4169664"/>
            <a:ext cx="3703320" cy="292608"/>
          </a:xfrm>
          <a:prstGeom prst="roundRect">
            <a:avLst>
              <a:gd name="adj" fmla="val 15625"/>
            </a:avLst>
          </a:prstGeom>
          <a:solidFill>
            <a:srgbClr val="FFF4EC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42062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Faster to first disbursal · existing CoR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754880" y="1691640"/>
            <a:ext cx="40690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0" y="1828800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82880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98080" y="184708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9–15 months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37760" y="2194560"/>
            <a:ext cx="3703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a fresh licence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937760" y="25603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Incorporate, capitalise ₹10 Cr NOF as liquid funds ab initio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4937760" y="294436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application — business plan, 5-yr projections, fit-&amp;-proper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493776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diligence trail — no legacy book, no inherited risk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4937760" y="371246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policy stack (credit + collections) is already application-grade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937760" y="4169664"/>
            <a:ext cx="3703320" cy="292608"/>
          </a:xfrm>
          <a:prstGeom prst="roundRect">
            <a:avLst>
              <a:gd name="adj" fmla="val 15625"/>
            </a:avLst>
          </a:prstGeom>
          <a:solidFill>
            <a:srgbClr val="F0FDFA"/>
          </a:solidFill>
          <a:ln/>
        </p:spPr>
      </p:sp>
      <p:sp>
        <p:nvSpPr>
          <p:cNvPr id="26" name="Text 24"/>
          <p:cNvSpPr/>
          <p:nvPr/>
        </p:nvSpPr>
        <p:spPr>
          <a:xfrm>
            <a:off x="5047488" y="42062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Zero legacy risk · cleanest cap table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02920" y="4681728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4727448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pursue Path A as primary with Path B filed in parallel — the ₹10 Cr NOF is identical and ring-fenced in this raise either way.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 Cr — regulation-anchored, loan-deployed.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 corpus (on-book AUM seed)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16276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~5,000 loans · Bengaluru → 4 cities · proves the book for debt lines &amp; co-lending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800600" y="1426464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7" name="Shape 5"/>
          <p:cNvSpPr/>
          <p:nvPr/>
        </p:nvSpPr>
        <p:spPr>
          <a:xfrm>
            <a:off x="4800600" y="1426464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E8520A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0" y="1426464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82128" y="144475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₹22 Cr–₹36 Cr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 NOF + licence/acquisition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286000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RBI-mandated ₹10 Cr liquid NOF + shell premium / application costs — ring-fenced, not burn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00600" y="2084832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4800600" y="2084832"/>
            <a:ext cx="1424354" cy="310896"/>
          </a:xfrm>
          <a:prstGeom prst="roundRect">
            <a:avLst>
              <a:gd name="adj" fmla="val 14706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7589520" y="208483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82128" y="210312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Cr–₹12 Cr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02920" y="268833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AI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2944368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mobile app, RL model build-out, bank-statement APIs (Perfios), LMS hardening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00600" y="2743200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4800600" y="2743200"/>
            <a:ext cx="422031" cy="310896"/>
          </a:xfrm>
          <a:prstGeom prst="roundRect">
            <a:avLst>
              <a:gd name="adj" fmla="val 14706"/>
            </a:avLst>
          </a:prstGeom>
          <a:solidFill>
            <a:srgbClr val="6D28D9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0" y="2743200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882128" y="2761488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 Cr–₹5 Cr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33467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ops &amp; distribution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2920" y="3602736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network in 4 cities, distributor partnerships, collections infrastructure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800600" y="3401568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25" name="Shape 23"/>
          <p:cNvSpPr/>
          <p:nvPr/>
        </p:nvSpPr>
        <p:spPr>
          <a:xfrm>
            <a:off x="4800600" y="3401568"/>
            <a:ext cx="369277" cy="310896"/>
          </a:xfrm>
          <a:prstGeom prst="roundRect">
            <a:avLst>
              <a:gd name="adj" fmla="val 14706"/>
            </a:avLst>
          </a:prstGeom>
          <a:solidFill>
            <a:srgbClr val="B45309"/>
          </a:solidFill>
          <a:ln/>
        </p:spPr>
      </p:sp>
      <p:sp>
        <p:nvSpPr>
          <p:cNvPr id="26" name="Text 24"/>
          <p:cNvSpPr/>
          <p:nvPr/>
        </p:nvSpPr>
        <p:spPr>
          <a:xfrm>
            <a:off x="7589520" y="3401568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882128" y="3419856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 Cr–₹4 Cr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2920" y="40050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Team, compliance &amp; buffer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4261104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head, compliance officer, ops core + 12-month regulatory runway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800600" y="4059936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31" name="Shape 29"/>
          <p:cNvSpPr/>
          <p:nvPr/>
        </p:nvSpPr>
        <p:spPr>
          <a:xfrm>
            <a:off x="4800600" y="4059936"/>
            <a:ext cx="316523" cy="310896"/>
          </a:xfrm>
          <a:prstGeom prst="roundRect">
            <a:avLst>
              <a:gd name="adj" fmla="val 14706"/>
            </a:avLst>
          </a:prstGeom>
          <a:solidFill>
            <a:srgbClr val="94A3B8"/>
          </a:solidFill>
          <a:ln/>
        </p:spPr>
      </p:sp>
      <p:sp>
        <p:nvSpPr>
          <p:cNvPr id="32" name="Text 30"/>
          <p:cNvSpPr/>
          <p:nvPr/>
        </p:nvSpPr>
        <p:spPr>
          <a:xfrm>
            <a:off x="7589520" y="4059936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882128" y="4078224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 Cr–₹3 Cr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02920" y="4681728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0FDF4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8368" y="4736592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80% of the raise sits in regulated capital + loan book — recoverable assets, not operating burn.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licence to ₹150 Cr AUM in 24 months.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63040"/>
            <a:ext cx="2011680" cy="91440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M0–6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&amp; pilot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 acquisition / application filed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640080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Bengaluru pilot: 200 loans, ₹6 Cr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640080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app live · RL data accumulating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40080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E85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NPA &lt; 2.5%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2660904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60904" y="1463040"/>
            <a:ext cx="2011680" cy="914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2798064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M7–12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98064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book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98064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cities: BLR, HYD, CHN, PUN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2798064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 loans · ₹35 Cr AUM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2798064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debt line / co-lending signed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2798064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43784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NPA &lt; 2% · 60% repeat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4818888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18888" y="1463040"/>
            <a:ext cx="2011680" cy="914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4" name="Text 22"/>
          <p:cNvSpPr/>
          <p:nvPr/>
        </p:nvSpPr>
        <p:spPr>
          <a:xfrm>
            <a:off x="4956048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M13–18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56048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with leverage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956048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model live in underwriting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4956048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cities · distributor channel at 30% of originations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4956048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 Cr AUM on 2× leverage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956048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01768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Opex/AUM &lt; 4%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6976872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76872" y="1463040"/>
            <a:ext cx="2011680" cy="914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3" name="Text 31"/>
          <p:cNvSpPr/>
          <p:nvPr/>
        </p:nvSpPr>
        <p:spPr>
          <a:xfrm>
            <a:off x="7114032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M19–24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14032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position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114032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₹150 Cr AUM · 12,000+ active loans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7114032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AI-scored share &gt; 85% of book</a:t>
            </a:r>
            <a:endParaRPr lang="en-US" sz="860" dirty="0"/>
          </a:p>
        </p:txBody>
      </p:sp>
      <p:sp>
        <p:nvSpPr>
          <p:cNvPr id="37" name="Text 35"/>
          <p:cNvSpPr/>
          <p:nvPr/>
        </p:nvSpPr>
        <p:spPr>
          <a:xfrm>
            <a:off x="7114032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Co-lending with 2 banks/NBFCs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7114032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59752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profitability visible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502920" y="4645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Bajaj Finance disbursed ₹1,600 Cr in one quarter via AI scoring (~10% of its loans). Our 24-month exit target is 85% AI-scored — born-AI, not retrofitted.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 CAPITAL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kitchen always pays.
</a:t>
            </a:r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someone finally lends to it.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3500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product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0120" y="25877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 underwriting + full lending stack — demo in your hands today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754880" y="23500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7492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clarity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74920" y="25877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NOF priced in · both licence paths costed · policies board-ready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32186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Unfair data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0120" y="34564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control the account every rupee of aggregator revenue flows through — the moat compounds from loan #1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0" y="32186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74920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Asset-backed raise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74920" y="34564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funds become NOF + loan book, not burn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160520"/>
            <a:ext cx="7863840" cy="566928"/>
          </a:xfrm>
          <a:prstGeom prst="roundRect">
            <a:avLst>
              <a:gd name="adj" fmla="val 16129"/>
            </a:avLst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29768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Try it before you decide:  </a:t>
            </a:r>
            <a:pPr indent="0" marL="0">
              <a:buNone/>
            </a:pPr>
            <a:r>
              <a:rPr lang="en-US" sz="1300" b="1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rasoi-capital.vercel.app/underwrite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82803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entrepreneurs · Goverdhan M D · Aparna · Srinivas Jayaram · Boi · Mathew Varkey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entrepreneurs who've built, scaled, and exited.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63040"/>
            <a:ext cx="2011680" cy="91440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Goverdhan M 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CEO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Co-founded Tipplr (acquired by GoKhana, Jan 2026)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640080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years building &amp; exiting marketplaces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640080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product, technology &amp; fundraising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40080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E85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entrepreneur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2660904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60904" y="1463040"/>
            <a:ext cx="2011680" cy="914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2798064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Aparna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98064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98064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Director, India's first credit-advocacy company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2798064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regulators &amp; 60+ lenders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2798064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Author, Mint/Femina/Outlook columns, TV credit expert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2798064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43784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credit policy &amp; regulators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4818888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18888" y="1463040"/>
            <a:ext cx="2011680" cy="914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4" name="Text 22"/>
          <p:cNvSpPr/>
          <p:nvPr/>
        </p:nvSpPr>
        <p:spPr>
          <a:xfrm>
            <a:off x="4956048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 Jayaram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56048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956048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Co-founded Tipplr; 20+ yrs enterprise IT, data &amp; AI/ML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4956048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Eng/Product/Data across Retail, FMCG, Banking, FoodTech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4956048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IICA-Certified Independent Director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956048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01768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engineering &amp; the AI platform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6976872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76872" y="1463040"/>
            <a:ext cx="2011680" cy="914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3" name="Text 31"/>
          <p:cNvSpPr/>
          <p:nvPr/>
        </p:nvSpPr>
        <p:spPr>
          <a:xfrm>
            <a:off x="7114032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14032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114032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of Petoo — 300+ HORECA outlets monthly, NE India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7114032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IIM-Bangalore; 18+ yrs banking &amp; telecom (ICICI, Vodafone Idea)</a:t>
            </a:r>
            <a:endParaRPr lang="en-US" sz="860" dirty="0"/>
          </a:p>
        </p:txBody>
      </p:sp>
      <p:sp>
        <p:nvSpPr>
          <p:cNvPr id="37" name="Text 35"/>
          <p:cNvSpPr/>
          <p:nvPr/>
        </p:nvSpPr>
        <p:spPr>
          <a:xfrm>
            <a:off x="7114032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&amp; prepaid products; sells to the outlets we lend to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7114032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59752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entrepreneur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502920" y="4645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Varkey — Co-Founder · Co-founded Tipplr; Founder of Vanbey Services; 30+ yrs marketing &amp; BD across Asia; serial startup mentor &amp; investor. Leads GTM &amp; distribution. Three of the founders built and exited Tipplr together — Rasoi inherits their live ONDC integration.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Rasoi Capital — Series Seed Pitch</dc:title>
  <dc:subject>PptxGenJS Presentation</dc:subject>
  <dc:creator>PptxGenJS</dc:creator>
  <cp:lastModifiedBy>PptxGenJS</cp:lastModifiedBy>
  <cp:revision>1</cp:revision>
  <dcterms:created xsi:type="dcterms:W3CDTF">2026-06-11T05:52:49Z</dcterms:created>
  <dcterms:modified xsi:type="dcterms:W3CDTF">2026-06-11T05:52:49Z</dcterms:modified>
</cp:coreProperties>
</file>