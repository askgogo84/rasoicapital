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23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size (₹ lakh Cr)</c:v>
                </c:pt>
              </c:strCache>
            </c:strRef>
          </c:tx>
          <c:spPr>
            <a:solidFill>
              <a:srgbClr val="E8520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  <c:pt idx="3">
                    <c:v>FY27</c:v>
                  </c:pt>
                  <c:pt idx="4">
                    <c:v>FY28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5.69</c:v>
                </c:pt>
                <c:pt idx="1">
                  <c:v>6.15</c:v>
                </c:pt>
                <c:pt idx="2">
                  <c:v>6.65</c:v>
                </c:pt>
                <c:pt idx="3">
                  <c:v>7.19</c:v>
                </c:pt>
                <c:pt idx="4">
                  <c:v>7.77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Typical HORECA daily cash balance</c:v>
                </c:pt>
              </c:strCache>
            </c:strRef>
          </c:tx>
          <c:spPr>
            <a:solidFill>
              <a:srgbClr val="E8520A"/>
            </a:solidFill>
            <a:ln w="38100" cap="flat">
              <a:solidFill>
                <a:srgbClr val="E852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520A"/>
              </a:solidFill>
              <a:ln w="9525" cap="flat">
                <a:solidFill>
                  <a:srgbClr val="E852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6 AM</c:v>
                  </c:pt>
                  <c:pt idx="1">
                    <c:v>9 AM</c:v>
                  </c:pt>
                  <c:pt idx="2">
                    <c:v>12 PM</c:v>
                  </c:pt>
                  <c:pt idx="3">
                    <c:v>3 PM</c:v>
                  </c:pt>
                  <c:pt idx="4">
                    <c:v>6 PM</c:v>
                  </c:pt>
                  <c:pt idx="5">
                    <c:v>8 PM</c:v>
                  </c:pt>
                  <c:pt idx="6">
                    <c:v>10 PM</c:v>
                  </c:pt>
                  <c:pt idx="7">
                    <c:v>12 AM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8</c:v>
                </c:pt>
                <c:pt idx="2">
                  <c:v>35</c:v>
                </c:pt>
                <c:pt idx="3">
                  <c:v>28</c:v>
                </c:pt>
                <c:pt idx="4">
                  <c:v>45</c:v>
                </c:pt>
                <c:pt idx="5">
                  <c:v>88</c:v>
                </c:pt>
                <c:pt idx="6">
                  <c:v>100</c:v>
                </c:pt>
                <c:pt idx="7">
                  <c:v>60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line, pause, then: 'Everything we show you today is live. At the end of this deck we'll underwrite a real restaurant in front of you, in 30 seconds.'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does one job: kill the 'is this vaporware' question in minute one. Hand them your phone with /underwrite open if they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Anchor: the problem is not borrower quality — it is measurement failure plus product design failure. That framing sets up our two-part solution: AI underwriting + daily EMI.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Sizing logic is conservative and explainable. SOM comparison to Oxyzo makes the point: we don't need to win the market to be a large company — we need 0.2% of outlets.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pillars, one sentence each: We score what banks can't see. We collect when the till is full. We escalate like a regulator wrote it — because one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CIBIL is deliberately our SMALLEST weight. Every competitor makes it the biggest. That single inversion is why we can approve outlets they reject — profitably.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moment of the pitch. Let the INVESTOR choose the inputs — sales figure, CIBIL, growth. When their numbers come back scored with an AI memo in 2 seconds, the vaporware question dies permanently.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competitors can't copy without re-architecting their entire collection stack. NACH mandates are monthly by design; our SI waterfall at 9 PM is purpose-built.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asymmetry: TWO buckets for performing accounts. Splitting Clean from Normal is a daily-EMI innovation — pre-emptive risk detection a monthly lender literally cannot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competitors as VALIDATION, not threat: Oxyzo proves the economics. Our wedge is depth they can't retrofit — sector scoring, field force, and a daily-EMI stack their NACH-based systems weren't built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30× line is the one they'll remember: daily EMI isn't just a collections tool — it's a data instrument. Each loan emits 365 signals a year. Nobody else's book does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illustrative and conservative — say so. The insight: a HORECA borrower is not a transaction, it's an annuity. Cycle-2+ loans carry near-zero acquisition cost and known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Investors fear regulatory naivety more than competition. This slide shows we've priced both routes, know the 26% trigger and fit-&amp;-proper rules, and the NOF is committed capital — not burn.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killer reframe: this is not a typical seed where money evaporates into salaries. 80% becomes balance-sheet assets — NOF and a yielding loan book. Equity here buys a regulated institution.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KPI box is a gate, not a hope — NPA thresholds decide whether we scale to the next phase. Investors should hear discipline, not hockey sticks.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where you began: with the live product. Last line spoken aloud: 'The demo stays live after this meeting. Underwrite any restaurant you know tonight — and call us tomorrow.'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E8520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RASOI CAPITAL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feeds the world.
</a:t>
            </a:r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funds </a:t>
            </a:r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AI-first lending platform for India's ₹5.7 lakh crore HORECA industry —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live, working underwriting engine you can test today.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767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4005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 Cr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15768" y="3794760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7208" y="3767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07208" y="4005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Licence + NOF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54296" y="3794760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3767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STATUS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45736" y="4005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Demo-Ready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92824" y="3794760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84264" y="3767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84264" y="4005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Pre-Series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AI  ·  Bengaluru  ·  Investor Presentation  ·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BEGIN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concept deck.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next 14 slides is running in production, right now. You're welcome to open it on your phone while we talk.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99339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9933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7512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Underwriting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" y="290779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6-factor HORECA credit model scores any outlet in under a second and writes a full AI risk memo.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7512" y="38221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rasoi-capital.vercel.app/underwrite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7872" y="199339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3547872" y="19933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47872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Lending Platform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47872" y="290779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loan book, virtual-account collections engine, DPD buckets, portfolio analytics. 17-table production database.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47872" y="38221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rasoi-capital.vercel.app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182880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28232" y="199339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19933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28232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RBI-Aligned Policy Stack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28232" y="290779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policy, collection &amp; recovery policy (Fair Practices Code), bureau reporting framework — written, reviewed, board-ready.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28232" y="38221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data room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37083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4EC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45312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MOMENT №1 —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underwrite a live restaurant on screen at slide 7. Hold your scepticism until then.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Kitchens run on credit nobody gives them.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 earning ₹7 lakh a month — daily cash flow, real customers, real margins — walks into a bank and gets rejected. Why?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2128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2311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 can't see daily cash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50545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of HORECA revenue is cash &amp; UPI that annual filings under-report. Banks score the paperwork, not the business.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127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SME models misfire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40156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dhaba and a steel trader get the same scorecard. Margin structures, seasonality, footfall — all invisible to NBFC models.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0050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EMI vs daily income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29768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HORECA earns daily but repays monthly — one bad week breaks the EMI. Product design itself manufactures defaults.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AF7F2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4813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WHERE DO THEY GO?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783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36–48%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029200" y="24505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p.a. — informal moneylenders, the default banker of Indian HORECA.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0" y="3035808"/>
            <a:ext cx="3474720" cy="0"/>
          </a:xfrm>
          <a:prstGeom prst="line">
            <a:avLst/>
          </a:prstGeom>
          <a:noFill/>
          <a:ln w="12700">
            <a:solidFill>
              <a:srgbClr val="E7DC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16382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8.5M+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32004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employed — India's 2nd largest employer (NRAI)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0" y="369417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37307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outlets remain outside formal credit (industry est.)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422452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26480" y="426110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GDP — yet no dedicated HORECA lender exists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3rd-largest food market on Earth by 2028.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81328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food services industry, NRAI IFSR 2024 · 8.1% CAGR · organised segment growing 13.2%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800600" y="1481328"/>
            <a:ext cx="3977640" cy="932688"/>
          </a:xfrm>
          <a:prstGeom prst="roundRect">
            <a:avLst>
              <a:gd name="adj" fmla="val 8824"/>
            </a:avLst>
          </a:prstGeom>
          <a:solidFill>
            <a:srgbClr val="FDE8DB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83480" y="155448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HORECA credit demand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83480" y="175564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₹95,000+ Cr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983480" y="20665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+ expansion credit demand across 14M+ outlets (est. at ~12% of industry GMV)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800600" y="2542032"/>
            <a:ext cx="3200400" cy="932688"/>
          </a:xfrm>
          <a:prstGeom prst="roundRect">
            <a:avLst>
              <a:gd name="adj" fmla="val 8824"/>
            </a:avLst>
          </a:prstGeom>
          <a:solidFill>
            <a:srgbClr val="FACDB0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83480" y="26151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Organised, physical, metro+T1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983480" y="281635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₹28,000 Cr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983480" y="3127248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outlets in top 20 cities with digital payment trails — our underwritable universe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800600" y="3602736"/>
            <a:ext cx="2377440" cy="932688"/>
          </a:xfrm>
          <a:prstGeom prst="roundRect">
            <a:avLst>
              <a:gd name="adj" fmla="val 8824"/>
            </a:avLst>
          </a:prstGeom>
          <a:solidFill>
            <a:srgbClr val="E8520A"/>
          </a:solidFill>
          <a:ln/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83480" y="36758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3-year target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83480" y="38770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₹1,700 Cr AUM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983480" y="418795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~26,000 active loans (₹5–10L avg) — 0.2% of outlets. Oxyzo built ₹11,822Cr AUM in broad SME; we need a sliver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how a kitchen actually earns.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81328"/>
            <a:ext cx="2697480" cy="1097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007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/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sees the business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395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6-factor HORECA scoring engine — margin, growth, sales, location, ambience, bureau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3438144"/>
            <a:ext cx="2395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Rasoi IQ writes a full credit memo for every decision — transparent, auditable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4041648"/>
            <a:ext cx="2395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FSA field force captures what no API can: footfall, hygiene, real seating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1481328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481328"/>
            <a:ext cx="2697480" cy="109728"/>
          </a:xfrm>
          <a:prstGeom prst="rect">
            <a:avLst/>
          </a:prstGeom>
          <a:solidFill>
            <a:srgbClr val="E8520A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7007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/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6616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at the source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566160" y="2834640"/>
            <a:ext cx="2395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regulated virtual account intercepts Swiggy/Zomato settlements at source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66160" y="3438144"/>
            <a:ext cx="2395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auto-deducted before the borrower is paid; remainder swept to the outlet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66160" y="4041648"/>
            <a:ext cx="2395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a day? Recoup any day that month — bureau sees only the monthly total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1481328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481328"/>
            <a:ext cx="2697480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7007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/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4652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built for dignity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46520" y="2834640"/>
            <a:ext cx="2395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5-bucket framework (Clean → NPA) under RBI Fair Practices Code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3438144"/>
            <a:ext cx="2395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collection every Friday; clean payers earn better terms + cross-sell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4041648"/>
            <a:ext cx="2395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proportional to DPD — relationship first, recovery second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AI UNDERWRITING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factors. One score. Full explanation.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reconcile bank + aggregator data and score the agreement — not the claim.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Margin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664208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1664208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E8520A"/>
          </a:solidFill>
          <a:ln/>
        </p:spPr>
      </p:sp>
      <p:sp>
        <p:nvSpPr>
          <p:cNvPr id="8" name="Text 6"/>
          <p:cNvSpPr/>
          <p:nvPr/>
        </p:nvSpPr>
        <p:spPr>
          <a:xfrm>
            <a:off x="5532120" y="1664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6824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Menu-category matrix (A–D): premium 35% → value 24%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Revenue Growth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121408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2121408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21214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1396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statements + Swiggy/Zomato payout trails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578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Sales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2578608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2578608"/>
            <a:ext cx="2072640" cy="27432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2578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5968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verified average across ALL declared accounts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035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Type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3035808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3035808"/>
            <a:ext cx="1036320" cy="2743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30358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0540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FSA geo-tag: IT park / mall / high street / captive / other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Ambience Score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77440" y="3493008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2377440" y="3493008"/>
            <a:ext cx="518160" cy="27432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34930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35112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FSA field visit — décor, seating, hygiene (3-flag system)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3950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77440" y="3950208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377440" y="3950208"/>
            <a:ext cx="518160" cy="274320"/>
          </a:xfrm>
          <a:prstGeom prst="roundRect">
            <a:avLst>
              <a:gd name="adj" fmla="val 16667"/>
            </a:avLst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5532120" y="3950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39684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pull — deliberately the smallest weight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443484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53542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1–5 → Bucket </a:t>
            </a:r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(auto-approve · 18%)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(conditional · 19–20%)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(manual / reject)</a:t>
            </a:r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Rasoi IQ credit memo on every run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411480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E8520A"/>
          </a:solidFill>
          <a:ln/>
        </p:spPr>
      </p:sp>
      <p:sp>
        <p:nvSpPr>
          <p:cNvPr id="3" name="Text 1"/>
          <p:cNvSpPr/>
          <p:nvPr/>
        </p:nvSpPr>
        <p:spPr>
          <a:xfrm>
            <a:off x="3108960" y="4114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90 SECONDS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underwrite a real restaurant. Right now.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rasoi-capital.vercel.app/underwrite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749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40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TYPE  (the investor picks the numbers)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25603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Leaf Cafe, Bengaluru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9077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29077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Mid-premium · High street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25526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sales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325526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₹7,00,000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60273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growth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360273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5020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39502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Ambience (FSA)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42976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positive · 0 flags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31089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800600" y="2103120"/>
            <a:ext cx="3749040" cy="260604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2240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DB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RETURNS  (~2 seconds)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2560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25603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4.05 / 5.00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9077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/ decision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— Auto-approve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2552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/ fee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25526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p.a. · 2.5% PF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60273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(Cycle-1 cap)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360273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₹7,00,000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39502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EMI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39502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₹24,500/week at source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42976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Rasoi IQ credit memo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75120" y="42976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file · TRUSTED (DIS 91)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the right is computed live in our production database — not a mock-up.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COLLECTIONS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collect at the source — before the borrower is paid.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regulated virtual account intercepts aggregator settlements. Repayment becomes structural, not behavioural.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91640"/>
          <a:ext cx="4663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977640" y="1783080"/>
            <a:ext cx="1078992" cy="36576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77640" y="1810512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Deducted at source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payout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02920" y="4114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Swiggy/Zomato settlements route through our virtual account every Friday; EMI comes out first, remainder sweeps to the outlet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40680" y="1664208"/>
            <a:ext cx="274320" cy="274320"/>
          </a:xfrm>
          <a:prstGeom prst="ellipse">
            <a:avLst/>
          </a:prstGeom>
          <a:solidFill>
            <a:srgbClr val="E8520A"/>
          </a:solidFill>
          <a:ln/>
        </p:spPr>
      </p:sp>
      <p:sp>
        <p:nvSpPr>
          <p:cNvPr id="10" name="Text 7"/>
          <p:cNvSpPr/>
          <p:nvPr/>
        </p:nvSpPr>
        <p:spPr>
          <a:xfrm>
            <a:off x="5440680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33872" y="1645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before the borrower can spend it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833872" y="192024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borrower can't forget, go overdrawn, or deprioritise us — the money is taken at the source of funds.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40680" y="2505456"/>
            <a:ext cx="274320" cy="274320"/>
          </a:xfrm>
          <a:prstGeom prst="ellipse">
            <a:avLst/>
          </a:prstGeom>
          <a:solidFill>
            <a:srgbClr val="E8520A"/>
          </a:solidFill>
          <a:ln/>
        </p:spPr>
      </p:sp>
      <p:sp>
        <p:nvSpPr>
          <p:cNvPr id="14" name="Text 11"/>
          <p:cNvSpPr/>
          <p:nvPr/>
        </p:nvSpPr>
        <p:spPr>
          <a:xfrm>
            <a:off x="5440680" y="2505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33872" y="24871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escrow rails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833872" y="2761488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regulated escrow rails Mahindra Finance, IIFL and Oxyzo run on — RBI/SEBI-aligned, ISO 27001, banking partners incl. IDFC, SBI, Kotak.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40680" y="3346704"/>
            <a:ext cx="274320" cy="274320"/>
          </a:xfrm>
          <a:prstGeom prst="ellipse">
            <a:avLst/>
          </a:prstGeom>
          <a:solidFill>
            <a:srgbClr val="E8520A"/>
          </a:solidFill>
          <a:ln/>
        </p:spPr>
      </p:sp>
      <p:sp>
        <p:nvSpPr>
          <p:cNvPr id="18" name="Text 15"/>
          <p:cNvSpPr/>
          <p:nvPr/>
        </p:nvSpPr>
        <p:spPr>
          <a:xfrm>
            <a:off x="5440680" y="3346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33872" y="332841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cost collapses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833872" y="3602736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collection, no bounce cycles for the performing book. The rails do the work — opex per performing loan approaches a bank transfer.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40680" y="4187952"/>
            <a:ext cx="274320" cy="274320"/>
          </a:xfrm>
          <a:prstGeom prst="ellipse">
            <a:avLst/>
          </a:prstGeom>
          <a:solidFill>
            <a:srgbClr val="E8520A"/>
          </a:solidFill>
          <a:ln/>
        </p:spPr>
      </p:sp>
      <p:sp>
        <p:nvSpPr>
          <p:cNvPr id="22" name="Text 19"/>
          <p:cNvSpPr/>
          <p:nvPr/>
        </p:nvSpPr>
        <p:spPr>
          <a:xfrm>
            <a:off x="5440680" y="4187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833872" y="416966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loss → cheaper loans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833872" y="4443984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At-source collection cuts expected loss on settled revenue — so we approve outlets a bank rejects, below informal-lender rates.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RISK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collections ladder a regulator would write.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Collection &amp; Recovery Policy — RBI Fair Practices Code, IBC-aligned, fully documented.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128016" cy="566928"/>
          </a:xfrm>
          <a:prstGeom prst="roundRect">
            <a:avLst>
              <a:gd name="adj" fmla="val 21429"/>
            </a:avLst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6479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0a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03120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weekly misses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1783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&amp; graduate — weekly/monthly EMI option, cross-sell, Cycle-2 priority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331720"/>
            <a:ext cx="128016" cy="566928"/>
          </a:xfrm>
          <a:prstGeom prst="roundRect">
            <a:avLst>
              <a:gd name="adj" fmla="val 21429"/>
            </a:avLst>
          </a:prstGeom>
          <a:solidFill>
            <a:srgbClr val="65A30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048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0b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6060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03120" y="2487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misses, monthly clean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423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— understand skips, re-time the SI, positive reminders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9718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971800"/>
            <a:ext cx="128016" cy="566928"/>
          </a:xfrm>
          <a:prstGeom prst="roundRect">
            <a:avLst>
              <a:gd name="adj" fmla="val 21429"/>
            </a:avLst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04495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1–2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2461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(early)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103120" y="3127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1–60 DPD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3063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resolve — calls, PTPs logged in LMS, restructure to cash-flow cycle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6118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611880"/>
            <a:ext cx="128016" cy="566928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68503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388620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(late)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103120" y="37673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DPD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9040" y="3703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NPA — FSA field visit, distributor loop, intensive engagement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2519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4251960"/>
            <a:ext cx="128016" cy="566928"/>
          </a:xfrm>
          <a:prstGeom prst="roundRect">
            <a:avLst>
              <a:gd name="adj" fmla="val 21429"/>
            </a:avLst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3251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452628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103120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DPD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49040" y="4343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&amp; close — legal/enforcement as last resort, dignity preserved throughout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underwrites a kitchen. Until now.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5820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80744"/>
            <a:ext cx="1618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103120" y="13807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Oxyzo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182112" y="13807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LendingKart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61104" y="13807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FlexiLoans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40096" y="13807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Indifi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19088" y="13807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NeoGrowth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0" y="138074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DB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RASOI CAPITAL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709928"/>
            <a:ext cx="1371600" cy="3008376"/>
          </a:xfrm>
          <a:prstGeom prst="rect">
            <a:avLst/>
          </a:prstGeom>
          <a:solidFill>
            <a:srgbClr val="FFF4EC"/>
          </a:solidFill>
          <a:ln w="15875">
            <a:solidFill>
              <a:srgbClr val="E852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01368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HORECA-specific scoring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03120" y="18013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82112" y="18013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61104" y="18013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0096" y="18013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19088" y="18013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0" y="180136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6-factor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139696"/>
            <a:ext cx="708660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231136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intelligence (FSA)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03120" y="22311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82112" y="22311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61104" y="22311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0096" y="22311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19088" y="22311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0" y="2231136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Built-in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660904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at source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03120" y="2660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82112" y="2660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61104" y="2660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40096" y="2660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19088" y="2660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(POS)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2660904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Virtual account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2999232"/>
            <a:ext cx="708660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090672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 memo per loan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03120" y="30906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182112" y="30906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61104" y="30906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0096" y="30906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19088" y="30906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98080" y="30906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Rasoi IQ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520440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Borrower-friendly bureau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103120" y="3520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82112" y="3520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61104" y="3520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40096" y="3520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19088" y="3520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98080" y="3520440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Monthly-cum.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3858768"/>
            <a:ext cx="708660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9"/>
          <p:cNvSpPr/>
          <p:nvPr/>
        </p:nvSpPr>
        <p:spPr>
          <a:xfrm>
            <a:off x="411480" y="3950208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rate (SME)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950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12%+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182112" y="3950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18%+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261104" y="3950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19%+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340096" y="3950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19088" y="3950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98080" y="395020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18–27% risk-based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379976"/>
            <a:ext cx="161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(context)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437997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₹11.8k Cr AUM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182112" y="437997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params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261104" y="437997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$313M raised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340096" y="437997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$129M raised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19088" y="437997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POS-led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498080" y="4379976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policies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65760" y="4773168"/>
            <a:ext cx="8458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company disclosures, FY25–26 filings, CB Insights. Oxyzo FY26: ₹1,494Cr revenue, 0.74% NPA — proof SME lending prints money at scale; none of it is HORECA-deep.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loan we make, makes the next loan smarter.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8520A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6420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Originate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9751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FSA captures ambience, location, category — data no bureau sells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15544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66420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Observe the revenue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37560" y="19751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settlement flows through the account we control — real revenue, not a proxy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6440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Underwrite sharper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5753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approvals at same risk → lower NPA → cheaper debt capital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31546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326440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Label &amp; learn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37560" y="35753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feed rl_training_data — RL model already architected in production schema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060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C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080760" y="1600200"/>
            <a:ext cx="0" cy="3063240"/>
          </a:xfrm>
          <a:prstGeom prst="line">
            <a:avLst/>
          </a:prstGeom>
          <a:noFill/>
          <a:ln w="12700">
            <a:solidFill>
              <a:srgbClr val="E7DC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572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pipe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355080" y="1975104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control the account every rupee of aggregator revenue flows through — the raw fuel for the RL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26334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355080" y="303580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for outlet ambience, category margins, or footfall — ours is proprietary by construction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55080" y="369417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2-sided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6355080" y="409651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lock-in: borrowers graduate to better terms; our model graduates to better selection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of a single loan.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Cycle-1 illustrative · Bucket C · ₹7L · 24 months · 19% p.a. + 2.5% PF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114800" cy="402336"/>
          </a:xfrm>
          <a:prstGeom prst="roundRect">
            <a:avLst>
              <a:gd name="adj" fmla="val 13636"/>
            </a:avLst>
          </a:prstGeom>
          <a:solidFill>
            <a:srgbClr val="F0FDF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55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income (24 mo)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37560" y="175564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₹1,46,900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67128"/>
            <a:ext cx="4114800" cy="402336"/>
          </a:xfrm>
          <a:prstGeom prst="roundRect">
            <a:avLst>
              <a:gd name="adj" fmla="val 13636"/>
            </a:avLst>
          </a:prstGeom>
          <a:solidFill>
            <a:srgbClr val="F0FDF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31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fee (2.5%)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37560" y="223113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₹17,500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42616"/>
            <a:ext cx="4114800" cy="402336"/>
          </a:xfrm>
          <a:prstGeom prst="roundRect">
            <a:avLst>
              <a:gd name="adj" fmla="val 13636"/>
            </a:avLst>
          </a:prstGeom>
          <a:solidFill>
            <a:srgbClr val="FE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066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debt capital (~9.5%)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270662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₹73,400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118104"/>
            <a:ext cx="4114800" cy="402336"/>
          </a:xfrm>
          <a:prstGeom prst="roundRect">
            <a:avLst>
              <a:gd name="adj" fmla="val 13636"/>
            </a:avLst>
          </a:prstGeom>
          <a:solidFill>
            <a:srgbClr val="FE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82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+ opex + FSA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318211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₹35,000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593592"/>
            <a:ext cx="4114800" cy="402336"/>
          </a:xfrm>
          <a:prstGeom prst="roundRect">
            <a:avLst>
              <a:gd name="adj" fmla="val 13636"/>
            </a:avLst>
          </a:prstGeom>
          <a:solidFill>
            <a:srgbClr val="FE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credit loss (4%)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36576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₹28,000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793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 / loan / cycle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54680" y="425196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₹28,000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16459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borrower compounds: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205740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FFF4EC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214884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93792" y="236829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₹7L cap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22037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 · prove-out · collateral by bucket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029200" y="292608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FFF4EC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30175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93792" y="323697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307238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borrower · known weekly-payment history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029200" y="379476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FFF4EC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388620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3+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93792" y="410565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12280" y="39410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· rate discounts via clean record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5029200" y="47000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compounds while CAC ≈ ₹0 on repeats — the FSA already knows the outlet.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roads to the licence. Both fully costed.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mandates ₹10 Cr minimum Net Owned Fund either way (Sec 45-IA, RBI Act) — it anchors this raise.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0690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2880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8520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120" y="18470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 months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an existing NBFC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 clean, dormant NBFC-ICC shell with valid CoR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85800" y="29443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prior approval — 26%+ stake / change of control + fit-&amp;-proper on directors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85800" y="33284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public notice, then capital infusion to ₹10 Cr+ NOF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85800" y="37124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over book: ₹50L–1.5Cr depending on vintage &amp; cleanliness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85800" y="4169664"/>
            <a:ext cx="3703320" cy="292608"/>
          </a:xfrm>
          <a:prstGeom prst="roundRect">
            <a:avLst>
              <a:gd name="adj" fmla="val 15625"/>
            </a:avLst>
          </a:prstGeom>
          <a:solidFill>
            <a:srgbClr val="FFF4EC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42062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to first disbursal · existing CoR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754880" y="1691640"/>
            <a:ext cx="40690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82880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82880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18470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9–15 months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19456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 fresh licence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37760" y="2560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Incorporate, capitalise ₹10 Cr NOF as liquid funds ab initio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937760" y="29443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application — business plan, 5-yr projections, fit-&amp;-proper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937760" y="33284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diligence trail — no legacy book, no inherited risk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937760" y="37124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policy stack (credit + collections) is already application-grade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937760" y="4169664"/>
            <a:ext cx="3703320" cy="292608"/>
          </a:xfrm>
          <a:prstGeom prst="roundRect">
            <a:avLst>
              <a:gd name="adj" fmla="val 15625"/>
            </a:avLst>
          </a:prstGeom>
          <a:solidFill>
            <a:srgbClr val="F0FDFA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42062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legacy risk · cleanest cap table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02920" y="4681728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FEF3C7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72744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pursue Path A as primary with Path B filed in parallel — the ₹10 Cr NOF is identical and ring-fenced in this raise either way.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 Cr — regulation-anchored, loan-deployed.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corpus (on-book AUM seed)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~3,000 loans (₹150 Cr Y1) · Bengaluru → 4 cities · proves the book for debt lines &amp; co-lending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800600" y="1426464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4800600" y="1426464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E8520A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42646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82128" y="144475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 Cr–₹36 Cr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NOF + licence/acquisition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RBI-mandated ₹10 Cr liquid NOF + shell premium / application costs — ring-fenced, not burn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208483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2084832"/>
            <a:ext cx="1424354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208483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82128" y="21031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Cr–₹12 Cr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6883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294436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FSA mobile app, RL model build-out, bank-statement APIs (Perfios), LMS hardening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274320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2743200"/>
            <a:ext cx="422031" cy="310896"/>
          </a:xfrm>
          <a:prstGeom prst="roundRect">
            <a:avLst>
              <a:gd name="adj" fmla="val 14706"/>
            </a:avLst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27432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82128" y="276148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 Cr–₹5 Cr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3467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ops &amp; distribution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60273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FSA network in 4 cities, distributor partnerships, collections infrastructure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3401568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3401568"/>
            <a:ext cx="369277" cy="310896"/>
          </a:xfrm>
          <a:prstGeom prst="roundRect">
            <a:avLst>
              <a:gd name="adj" fmla="val 14706"/>
            </a:avLst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340156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82128" y="341985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 Cr–₹4 Cr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005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compliance &amp; buffer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426110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head, compliance officer, ops core + 12-month regulatory runway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4059936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0600" y="4059936"/>
            <a:ext cx="316523" cy="310896"/>
          </a:xfrm>
          <a:prstGeom prst="roundRect">
            <a:avLst>
              <a:gd name="adj" fmla="val 14706"/>
            </a:avLst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405993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82128" y="407822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 Cr–₹3 Cr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4681728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73659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80% of the raise sits in regulated capital + loan book — recoverable assets, not operating burn.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licence to ₹560 Cr AUM in 24 months.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2011680" cy="91440"/>
          </a:xfrm>
          <a:prstGeom prst="rect">
            <a:avLst/>
          </a:prstGeom>
          <a:solidFill>
            <a:srgbClr val="E8520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M0–6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8366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&amp; pilot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acquisition / application filed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pilot: 1,000 loans, ₹50 Cr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640080" y="341985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FSA app live · RL data accumulating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40080" y="4096512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9525">
            <a:solidFill>
              <a:srgbClr val="E85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142232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&lt; 2.5%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660904" y="146304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60904" y="1463040"/>
            <a:ext cx="201168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2798064" y="1645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98064" y="188366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book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98064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cities: BLR, HYD, CHN, PUN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2798064" y="285292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loans · ₹150 Cr AUM (end Y1)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2798064" y="341985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debt line / co-lending signed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2798064" y="4096512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43784" y="4142232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&lt; 2% · 60% repeat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818888" y="146304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1463040"/>
            <a:ext cx="201168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1645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M13–18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56048" y="188366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leverage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956048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model live in underwriting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4956048" y="285292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cities · distributor channel at 30% of originations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4956048" y="341985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 Cr AUM on 2× leverage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4956048" y="4096512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4142232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Opex/AUM &lt; 4%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976872" y="146304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76872" y="1463040"/>
            <a:ext cx="201168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Text 31"/>
          <p:cNvSpPr/>
          <p:nvPr/>
        </p:nvSpPr>
        <p:spPr>
          <a:xfrm>
            <a:off x="7114032" y="1645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M19–24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14032" y="188366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position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114032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₹560 Cr AUM · 10,500+ active loans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7114032" y="285292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AI-scored share &gt; 85% of book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7114032" y="341985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Co-lending with 2 banks/NBFCs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7114032" y="4096512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59752" y="4142232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profitability visible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50292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Bajaj Finance disbursed ₹1,600 Cr in one quarter via AI scoring (~10% of its loans). Our 24-month exit target is 85% AI-scored — born-AI, not retrofitted.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E8520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RASOI CAPITAL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always pays.
</a:t>
            </a:r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someone finally lends to it.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350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5877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underwriting + full lending stack — demo in your hands today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0" y="2350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clarity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74920" y="25877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Cr NOF priced in · both licence paths costed · policies board-ready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3218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3456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control the account every rupee of aggregator revenue flows through — the moat compounds from loan #1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3218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Asset-backed raise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74920" y="3456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funds become NOF + loan book, not burn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9768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before you decide:</a:t>
            </a:r>
            <a:pPr indent="0" marL="0">
              <a:buNone/>
            </a:pPr>
            <a:r>
              <a:rPr lang="en-US" sz="1300" b="1" dirty="0">
                <a:solidFill>
                  <a:srgbClr val="FDB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rasoi-capital.vercel.app/underwrite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8280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entrepreneurs · Goverdhan M D · Aparna · Srinivas Jayaram · Boi · Mathew Varkey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entrepreneurs who've built, scaled, and exited.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2011680" cy="91440"/>
          </a:xfrm>
          <a:prstGeom prst="rect">
            <a:avLst/>
          </a:prstGeom>
          <a:solidFill>
            <a:srgbClr val="E8520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Goverdhan M 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8366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Tipplr (acquired by GoKhana, Jan 2026)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building &amp; exiting marketplaces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640080" y="341985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product, technology &amp; fundraising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40080" y="4096512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9525">
            <a:solidFill>
              <a:srgbClr val="E85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142232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entrepreneur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660904" y="146304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60904" y="1463040"/>
            <a:ext cx="201168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2798064" y="1645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Aparna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98064" y="188366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98064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Director, India's first credit-advocacy company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2798064" y="285292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regulators &amp; 60+ lenders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2798064" y="341985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Author, Mint/Femina/Outlook columns, TV credit expert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2798064" y="4096512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43784" y="4142232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credit policy &amp; regulators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818888" y="146304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1463040"/>
            <a:ext cx="201168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1645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 Jayaram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56048" y="188366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956048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Tipplr; 20+ yrs enterprise IT, data &amp; AI/ML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4956048" y="285292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Eng/Product/Data across Retail, FMCG, Banking, FoodTech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4956048" y="341985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IICA-Certified Independent Director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4956048" y="4096512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4142232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engineering &amp; the AI platform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976872" y="146304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BD5E1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76872" y="1463040"/>
            <a:ext cx="201168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Text 31"/>
          <p:cNvSpPr/>
          <p:nvPr/>
        </p:nvSpPr>
        <p:spPr>
          <a:xfrm>
            <a:off x="7114032" y="1645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14032" y="188366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114032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Petoo — 300+ HORECA outlets monthly, NE India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7114032" y="285292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IIM-Bangalore; 18+ yrs banking &amp; telecom (ICICI, Vodafone Idea)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7114032" y="341985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&amp; prepaid products; sells to the outlets we lend to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7114032" y="4096512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59752" y="4142232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entrepreneur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50292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Mathew Varkey — Co-Founder · Co-founded Tipplr; Founder of Vanbey Services; 30+ yrs marketing &amp; BD across Asia; serial startup mentor &amp; investor. Leads GTM &amp; distribution. Three of the founders built and exited Tipplr together — Rasoi inherits their live ONDC integration.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549640" y="4864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520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Rasoi Capital — Series Seed Pitch</dc:title>
  <dc:subject>PptxGenJS Presentation</dc:subject>
  <dc:creator>PptxGenJS</dc:creator>
  <cp:lastModifiedBy>PptxGenJS</cp:lastModifiedBy>
  <cp:revision>1</cp:revision>
  <dcterms:created xsi:type="dcterms:W3CDTF">2026-06-11T05:52:49Z</dcterms:created>
  <dcterms:modified xsi:type="dcterms:W3CDTF">2026-06-11T05:52:49Z</dcterms:modified>
</cp:coreProperties>
</file>